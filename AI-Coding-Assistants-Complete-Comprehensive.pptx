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B29D8-41B6-C409-0F6C-8BD81AA85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BAB6F-E5C4-5E52-979E-0B777E982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9BA6-F368-5F19-2498-4DE4E682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33AA-02F8-4DDC-BA5E-E54508A3946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ACCE1-A31C-6B83-819A-8EF35DB1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DF73E-407C-90CE-CCEA-76C79F06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B573-5194-4941-8CD8-FAA2E25F8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6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57E2-2A0D-25AA-EA42-996082FBD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1C517-7E55-B3D1-46E0-B1AE0DE13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D3A75-B880-CA8C-C9DD-204865FF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33AA-02F8-4DDC-BA5E-E54508A3946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6F8E8-C45F-DC5E-68F0-F159AE461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D97FD-AB25-F7D2-92DD-C5BDDB40E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B573-5194-4941-8CD8-FAA2E25F8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08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BEB-4E0F-22E1-3194-01F068B7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3BDD0-9585-5317-1BF2-2345654D2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72C10-9551-2276-6685-061D9F4DF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33AA-02F8-4DDC-BA5E-E54508A3946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41EBB-6B29-974C-CC94-83A8BB558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7769A-FE53-92CB-9CEC-F96BB22E0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B573-5194-4941-8CD8-FAA2E25F8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98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253FB-D8E0-D92D-AD3C-F7156066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5862C-70A1-0D2D-4EE5-E8CB3B220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0AA59-7D66-D8D1-0D7D-1B5B8BE1C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3678D-D735-2807-1AE1-AB7F98CD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33AA-02F8-4DDC-BA5E-E54508A3946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F5927-1969-57C7-8ADA-783010CDE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B1BDD-4DF7-6C29-86D8-8D4F8766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B573-5194-4941-8CD8-FAA2E25F8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35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2E194-9E97-4721-609C-C6B11D4A2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C7C75-BC76-BB7D-16FA-E6CBD13B9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22748-23F6-DBD1-4110-2093A74FE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5A05E-C702-9AE7-DD83-0BC92DC0F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34FB11-991A-7C0B-7AE1-39C89156F0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5DD821-BCC4-B277-94BB-827C3564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33AA-02F8-4DDC-BA5E-E54508A3946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1C227C-151D-AC73-8748-9EA6793F7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BA8EC-B10F-1403-8C9F-AF0D8818A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B573-5194-4941-8CD8-FAA2E25F8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89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EF7D-0853-7537-3E7A-37E429C7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1BCBB-329C-0677-0116-C133A2728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33AA-02F8-4DDC-BA5E-E54508A3946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0FCF1-5123-2A2A-0AD7-5DF1CC26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23ABF-9F22-E4CD-E0A1-EE94602F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B573-5194-4941-8CD8-FAA2E25F8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4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25960-1B6D-AB24-38CB-0FBC36FCE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33AA-02F8-4DDC-BA5E-E54508A3946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BF9E24-E527-E304-3DC9-41CE2470D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951D6-38ED-2604-8278-6E7E77AC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B573-5194-4941-8CD8-FAA2E25F8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80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5F5C-E777-D36C-92E6-6D3A8899E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8768E-FA68-67F5-43C9-A30E97E53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7905B-9CBA-71A4-2D09-A9852C858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8B478-2ED8-2B3B-0967-1E0333C54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33AA-02F8-4DDC-BA5E-E54508A3946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FE1D4-F8AB-8882-128B-8158762E9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3FDB4-670A-0EA7-2ED7-80A1F833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B573-5194-4941-8CD8-FAA2E25F8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46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4E11-7A38-63E3-57EC-709BA0EDE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826CD5-239E-35C0-14E9-7BF3F8330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ECE03-E81A-9113-A529-CDAFA84D5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D676A-BC62-5791-2D83-86CDC48C2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33AA-02F8-4DDC-BA5E-E54508A3946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0785D-C8B8-5699-5F28-2666738C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729EF-1AB2-AAD4-73F3-57890F41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B573-5194-4941-8CD8-FAA2E25F8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35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0D1BE-10FC-8B07-9B2E-E569A167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76C3C-7D51-6D89-AF5C-AB40350A2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8C1F7-6E28-C577-B68F-CA7E7F679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33AA-02F8-4DDC-BA5E-E54508A3946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83A51-CFE7-96E5-80CE-6E1CEE89E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06C94-A161-ABBA-9C24-A480F929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B573-5194-4941-8CD8-FAA2E25F8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04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F4CDBD-A71D-BD0F-21A1-83A9FDE391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951EE-BAC6-7243-3ABE-89A251842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10BCE-845B-21B8-11A9-F40C1DB63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33AA-02F8-4DDC-BA5E-E54508A3946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E89FA-C750-1B9C-E7E7-5FF8662E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C359F-FD98-4FF6-C375-D4EE571A2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B573-5194-4941-8CD8-FAA2E25F8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12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5546E-5E18-F0D0-5E34-5F1BF6CE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DF1DC-8DBB-6475-B559-9682F8F19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1A26A-A537-0775-D64E-ED745095B2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0933AA-02F8-4DDC-BA5E-E54508A3946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ABA3F-36E4-6AAE-EC18-F6C61C0FA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FFA1F-133F-6C03-8B5F-906ADED1F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EB573-5194-4941-8CD8-FAA2E25F8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4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38683F-4E98-033F-E84F-AEB58FCA7675}"/>
              </a:ext>
            </a:extLst>
          </p:cNvPr>
          <p:cNvSpPr txBox="1"/>
          <p:nvPr/>
        </p:nvSpPr>
        <p:spPr>
          <a:xfrm>
            <a:off x="635000" y="1905000"/>
            <a:ext cx="10922000" cy="830997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</a:rPr>
              <a:t>AI Coding Assistants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8C768-D4C7-179F-328E-27F77D17E524}"/>
              </a:ext>
            </a:extLst>
          </p:cNvPr>
          <p:cNvSpPr txBox="1"/>
          <p:nvPr/>
        </p:nvSpPr>
        <p:spPr>
          <a:xfrm>
            <a:off x="635000" y="3302000"/>
            <a:ext cx="10922000" cy="52322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pPr algn="ctr"/>
            <a:r>
              <a:rPr lang="en-US" sz="2800">
                <a:solidFill>
                  <a:srgbClr val="DCDCDC"/>
                </a:solidFill>
              </a:rPr>
              <a:t>For Large Legacy Application Modernization</a:t>
            </a:r>
          </a:p>
        </p:txBody>
      </p:sp>
    </p:spTree>
    <p:extLst>
      <p:ext uri="{BB962C8B-B14F-4D97-AF65-F5344CB8AC3E}">
        <p14:creationId xmlns:p14="http://schemas.microsoft.com/office/powerpoint/2010/main" val="2361167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530D0D-7740-54BA-B2B3-D661C93213D8}"/>
              </a:ext>
            </a:extLst>
          </p:cNvPr>
          <p:cNvSpPr txBox="1"/>
          <p:nvPr/>
        </p:nvSpPr>
        <p:spPr>
          <a:xfrm>
            <a:off x="508000" y="190500"/>
            <a:ext cx="11176000" cy="52322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800" b="1">
                <a:solidFill>
                  <a:srgbClr val="006078"/>
                </a:solidFill>
              </a:rPr>
              <a:t>Executive Summary: Key Modernization Factors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975B7-C18B-70B9-FCE9-2B2D2DC75A3E}"/>
              </a:ext>
            </a:extLst>
          </p:cNvPr>
          <p:cNvSpPr txBox="1"/>
          <p:nvPr/>
        </p:nvSpPr>
        <p:spPr>
          <a:xfrm>
            <a:off x="508000" y="825500"/>
            <a:ext cx="11176000" cy="3323987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pPr indent="-285750">
              <a:buChar char="•"/>
            </a:pPr>
            <a:r>
              <a:rPr lang="en-US" sz="1400"/>
              <a:t>Context capacity: Analyze entire codebases (200K vs 1M)
Refactoring: Multi-file coordinated changes
Code understanding: Dependency mapping, architecture
Documentation: Architecture diagrams, API docs, specs
Migration planning: Monolith-to-microservices roadmaps
Tech stack: Java, .NET, Python, PHP, COBOL
Database: Schema migration, stored procedures
Security: Air-gapped deployment, data privacy</a:t>
            </a:r>
          </a:p>
        </p:txBody>
      </p:sp>
    </p:spTree>
    <p:extLst>
      <p:ext uri="{BB962C8B-B14F-4D97-AF65-F5344CB8AC3E}">
        <p14:creationId xmlns:p14="http://schemas.microsoft.com/office/powerpoint/2010/main" val="2835178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B7ABB5-C50B-9B85-B94B-A47B8BC562A5}"/>
              </a:ext>
            </a:extLst>
          </p:cNvPr>
          <p:cNvSpPr txBox="1"/>
          <p:nvPr/>
        </p:nvSpPr>
        <p:spPr>
          <a:xfrm>
            <a:off x="508000" y="190500"/>
            <a:ext cx="11176000" cy="584775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3200" b="1">
                <a:solidFill>
                  <a:srgbClr val="006078"/>
                </a:solidFill>
              </a:rPr>
              <a:t>Tools Compared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DBDCC9-1CBC-742F-E6BA-4063A9DB0F17}"/>
              </a:ext>
            </a:extLst>
          </p:cNvPr>
          <p:cNvSpPr txBox="1"/>
          <p:nvPr/>
        </p:nvSpPr>
        <p:spPr>
          <a:xfrm>
            <a:off x="1905000" y="1524000"/>
            <a:ext cx="8382000" cy="3970318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pPr indent="-457200">
              <a:buChar char="•"/>
            </a:pPr>
            <a:r>
              <a:rPr lang="en-US" sz="2800" b="1"/>
              <a:t>GitHub Copilot - Microsoft
Cursor - Anysphere
Windsurf IDE - Codeium
Claude Code - Anthropic
Cline - Open Source</a:t>
            </a:r>
          </a:p>
        </p:txBody>
      </p:sp>
    </p:spTree>
    <p:extLst>
      <p:ext uri="{BB962C8B-B14F-4D97-AF65-F5344CB8AC3E}">
        <p14:creationId xmlns:p14="http://schemas.microsoft.com/office/powerpoint/2010/main" val="3057917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0BDB2C-F1BB-77B2-03AF-3A5B38245A69}"/>
              </a:ext>
            </a:extLst>
          </p:cNvPr>
          <p:cNvSpPr txBox="1"/>
          <p:nvPr/>
        </p:nvSpPr>
        <p:spPr>
          <a:xfrm>
            <a:off x="508000" y="190500"/>
            <a:ext cx="11176000" cy="492443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600" b="1">
                <a:solidFill>
                  <a:srgbClr val="006078"/>
                </a:solidFill>
              </a:rPr>
              <a:t>Tool Recommendations by Use Case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B93423-7111-12EF-AA23-749B73B0C9AD}"/>
              </a:ext>
            </a:extLst>
          </p:cNvPr>
          <p:cNvSpPr txBox="1"/>
          <p:nvPr/>
        </p:nvSpPr>
        <p:spPr>
          <a:xfrm>
            <a:off x="508000" y="889000"/>
            <a:ext cx="10668000" cy="353943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700" b="1">
                <a:solidFill>
                  <a:srgbClr val="0066CC"/>
                </a:solidFill>
              </a:rPr>
              <a:t>Large monolith (&gt;300K LOC):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FC8B5-4FEF-0EF1-C5B7-6125ECBC60D5}"/>
              </a:ext>
            </a:extLst>
          </p:cNvPr>
          <p:cNvSpPr txBox="1"/>
          <p:nvPr/>
        </p:nvSpPr>
        <p:spPr>
          <a:xfrm>
            <a:off x="762000" y="1206500"/>
            <a:ext cx="10414000" cy="307777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Cursor and Windsurf IDE (1M context essential)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849E9E-7CDF-DC31-ACA9-D67CDBD10E9B}"/>
              </a:ext>
            </a:extLst>
          </p:cNvPr>
          <p:cNvSpPr txBox="1"/>
          <p:nvPr/>
        </p:nvSpPr>
        <p:spPr>
          <a:xfrm>
            <a:off x="508000" y="1651000"/>
            <a:ext cx="10668000" cy="353943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700" b="1">
                <a:solidFill>
                  <a:srgbClr val="0066CC"/>
                </a:solidFill>
              </a:rPr>
              <a:t>Complex refactoring: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35C579-58EF-1BB2-1FF3-35D7D7D8630C}"/>
              </a:ext>
            </a:extLst>
          </p:cNvPr>
          <p:cNvSpPr txBox="1"/>
          <p:nvPr/>
        </p:nvSpPr>
        <p:spPr>
          <a:xfrm>
            <a:off x="762000" y="1968500"/>
            <a:ext cx="10414000" cy="307777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Cursor (Composer) and Windsurf (Cascade)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7A55B-6C79-7485-DE2A-48CBB61EAD11}"/>
              </a:ext>
            </a:extLst>
          </p:cNvPr>
          <p:cNvSpPr txBox="1"/>
          <p:nvPr/>
        </p:nvSpPr>
        <p:spPr>
          <a:xfrm>
            <a:off x="508000" y="2413000"/>
            <a:ext cx="10668000" cy="353943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700" b="1">
                <a:solidFill>
                  <a:srgbClr val="0066CC"/>
                </a:solidFill>
              </a:rPr>
              <a:t>Incremental modernization: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8A1E67-5078-2A4F-9A1A-3E7E846D1EF1}"/>
              </a:ext>
            </a:extLst>
          </p:cNvPr>
          <p:cNvSpPr txBox="1"/>
          <p:nvPr/>
        </p:nvSpPr>
        <p:spPr>
          <a:xfrm>
            <a:off x="762000" y="2730500"/>
            <a:ext cx="10414000" cy="307777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GitHub Copilot (fast code generation)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47CAD1-F24D-9011-D00A-F5B18A130E82}"/>
              </a:ext>
            </a:extLst>
          </p:cNvPr>
          <p:cNvSpPr txBox="1"/>
          <p:nvPr/>
        </p:nvSpPr>
        <p:spPr>
          <a:xfrm>
            <a:off x="508000" y="3175000"/>
            <a:ext cx="10668000" cy="353943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700" b="1">
                <a:solidFill>
                  <a:srgbClr val="0066CC"/>
                </a:solidFill>
              </a:rPr>
              <a:t>Regulated environments: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345F81-0BD6-9534-844F-35EF1F543670}"/>
              </a:ext>
            </a:extLst>
          </p:cNvPr>
          <p:cNvSpPr txBox="1"/>
          <p:nvPr/>
        </p:nvSpPr>
        <p:spPr>
          <a:xfrm>
            <a:off x="762000" y="3492500"/>
            <a:ext cx="10414000" cy="307777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Cline (air-gapped deployment)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453B2C-EF5A-7BEB-2BC7-1B3C8D9844F8}"/>
              </a:ext>
            </a:extLst>
          </p:cNvPr>
          <p:cNvSpPr txBox="1"/>
          <p:nvPr/>
        </p:nvSpPr>
        <p:spPr>
          <a:xfrm>
            <a:off x="508000" y="3937000"/>
            <a:ext cx="10668000" cy="353943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700" b="1">
                <a:solidFill>
                  <a:srgbClr val="0066CC"/>
                </a:solidFill>
              </a:rPr>
              <a:t>Legacy tech stacks: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73C142-AB42-EAE2-EB75-E8296518F0F4}"/>
              </a:ext>
            </a:extLst>
          </p:cNvPr>
          <p:cNvSpPr txBox="1"/>
          <p:nvPr/>
        </p:nvSpPr>
        <p:spPr>
          <a:xfrm>
            <a:off x="762000" y="4254500"/>
            <a:ext cx="10414000" cy="307777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All tools; Cursor/Windsurf best for large apps</a:t>
            </a:r>
          </a:p>
        </p:txBody>
      </p:sp>
    </p:spTree>
    <p:extLst>
      <p:ext uri="{BB962C8B-B14F-4D97-AF65-F5344CB8AC3E}">
        <p14:creationId xmlns:p14="http://schemas.microsoft.com/office/powerpoint/2010/main" val="4255884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4BF12F-652B-BA0C-04F9-AEEC05B9562B}"/>
              </a:ext>
            </a:extLst>
          </p:cNvPr>
          <p:cNvSpPr txBox="1"/>
          <p:nvPr/>
        </p:nvSpPr>
        <p:spPr>
          <a:xfrm>
            <a:off x="508000" y="190500"/>
            <a:ext cx="11176000" cy="52322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800" b="1">
                <a:solidFill>
                  <a:srgbClr val="006078"/>
                </a:solidFill>
              </a:rPr>
              <a:t>Legacy Modernization 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6B387-5568-A0D6-6C75-D0CFF6C08C2A}"/>
              </a:ext>
            </a:extLst>
          </p:cNvPr>
          <p:cNvSpPr txBox="1"/>
          <p:nvPr/>
        </p:nvSpPr>
        <p:spPr>
          <a:xfrm>
            <a:off x="508000" y="889000"/>
            <a:ext cx="11176000" cy="3970318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pPr indent="-285750">
              <a:buChar char="•"/>
            </a:pPr>
            <a:r>
              <a:rPr lang="en-US"/>
              <a:t>Understanding large codebases
Most legacy apps exceed standard context windows
Complex refactoring needs
Moving from monoliths to microservices
Technical debt
Outdated patterns, missing documentation
Cross-file dependencies
Changes affect multiple components
Maintaining business logic
Preserving critical functionality</a:t>
            </a:r>
          </a:p>
        </p:txBody>
      </p:sp>
    </p:spTree>
    <p:extLst>
      <p:ext uri="{BB962C8B-B14F-4D97-AF65-F5344CB8AC3E}">
        <p14:creationId xmlns:p14="http://schemas.microsoft.com/office/powerpoint/2010/main" val="931748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998AE3-16FA-F46E-678E-5F50C83383E7}"/>
              </a:ext>
            </a:extLst>
          </p:cNvPr>
          <p:cNvSpPr txBox="1"/>
          <p:nvPr/>
        </p:nvSpPr>
        <p:spPr>
          <a:xfrm>
            <a:off x="508000" y="190500"/>
            <a:ext cx="11176000" cy="492443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600" b="1">
                <a:solidFill>
                  <a:srgbClr val="006078"/>
                </a:solidFill>
              </a:rPr>
              <a:t>Context Window for Legacy Codebases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A4BACA-1DE7-F13E-446D-CF53841C2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20198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333">
                  <a:extLst>
                    <a:ext uri="{9D8B030D-6E8A-4147-A177-3AD203B41FA5}">
                      <a16:colId xmlns:a16="http://schemas.microsoft.com/office/drawing/2014/main" val="1020348304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563504751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3549770466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Context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48946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Claude Code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200K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~10K LOC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550748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Break into modules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202037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200K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 system view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226704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1M 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~50K LOC simultaneously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520964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Entire monoliths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60062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0035B0A-7FFF-15C0-1A6C-ECD59D764E6E}"/>
              </a:ext>
            </a:extLst>
          </p:cNvPr>
          <p:cNvSpPr txBox="1"/>
          <p:nvPr/>
        </p:nvSpPr>
        <p:spPr>
          <a:xfrm>
            <a:off x="508000" y="5588000"/>
            <a:ext cx="11176000" cy="307777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400" b="1">
                <a:solidFill>
                  <a:srgbClr val="00CC00"/>
                </a:solidFill>
              </a:rPr>
              <a:t>Key: 1M context essential for large monoliths</a:t>
            </a:r>
          </a:p>
        </p:txBody>
      </p:sp>
    </p:spTree>
    <p:extLst>
      <p:ext uri="{BB962C8B-B14F-4D97-AF65-F5344CB8AC3E}">
        <p14:creationId xmlns:p14="http://schemas.microsoft.com/office/powerpoint/2010/main" val="3122856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CF9635-B07A-36DE-051A-E5DE50DEA2DD}"/>
              </a:ext>
            </a:extLst>
          </p:cNvPr>
          <p:cNvSpPr txBox="1"/>
          <p:nvPr/>
        </p:nvSpPr>
        <p:spPr>
          <a:xfrm>
            <a:off x="508000" y="190500"/>
            <a:ext cx="11176000" cy="492443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600" b="1">
                <a:solidFill>
                  <a:srgbClr val="006078"/>
                </a:solidFill>
              </a:rPr>
              <a:t>Modernization Capabilities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D48270-C360-5FFB-DAE9-6426E3F05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4255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333">
                  <a:extLst>
                    <a:ext uri="{9D8B030D-6E8A-4147-A177-3AD203B41FA5}">
                      <a16:colId xmlns:a16="http://schemas.microsoft.com/office/drawing/2014/main" val="2995799071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1679343729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2459703870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396148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Claude Code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File nav, multi-file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Conversational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26072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Terminal, 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Task-based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307955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Fast generation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Incremental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392762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Composer multi-file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Holistic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688407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Cascade planning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Structured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32492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E30D995-C7DB-AF87-BF48-EC194EC6A8ED}"/>
              </a:ext>
            </a:extLst>
          </p:cNvPr>
          <p:cNvSpPr txBox="1"/>
          <p:nvPr/>
        </p:nvSpPr>
        <p:spPr>
          <a:xfrm>
            <a:off x="508000" y="5588000"/>
            <a:ext cx="11176000" cy="292388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300" b="1">
                <a:solidFill>
                  <a:srgbClr val="00CC00"/>
                </a:solidFill>
              </a:rPr>
              <a:t>Key: Different approaches based on size and complexity</a:t>
            </a:r>
          </a:p>
        </p:txBody>
      </p:sp>
    </p:spTree>
    <p:extLst>
      <p:ext uri="{BB962C8B-B14F-4D97-AF65-F5344CB8AC3E}">
        <p14:creationId xmlns:p14="http://schemas.microsoft.com/office/powerpoint/2010/main" val="2177203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D5AF15-2E0A-7F52-43FC-B28FA5B934DA}"/>
              </a:ext>
            </a:extLst>
          </p:cNvPr>
          <p:cNvSpPr txBox="1"/>
          <p:nvPr/>
        </p:nvSpPr>
        <p:spPr>
          <a:xfrm>
            <a:off x="508000" y="190500"/>
            <a:ext cx="11176000" cy="492443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600" b="1">
                <a:solidFill>
                  <a:srgbClr val="006078"/>
                </a:solidFill>
              </a:rPr>
              <a:t>Legacy Code Understanding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22DB42-427F-31FB-EBD2-B6E097102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798445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384146734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3236312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422000613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554009329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Analysis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Dependencies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Docs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215971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patterns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inline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077712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(1M)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Strong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Comprehensive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4932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Claude Code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(200K)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Manual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546892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(200K)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245408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(1M)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Automated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Structured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6894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00DED72-5AE6-8D7D-EB02-1E7DE5315053}"/>
              </a:ext>
            </a:extLst>
          </p:cNvPr>
          <p:cNvSpPr txBox="1"/>
          <p:nvPr/>
        </p:nvSpPr>
        <p:spPr>
          <a:xfrm>
            <a:off x="508000" y="5588000"/>
            <a:ext cx="11176000" cy="292388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300" b="1">
                <a:solidFill>
                  <a:srgbClr val="00CC00"/>
                </a:solidFill>
              </a:rPr>
              <a:t>Key: Requires context capacity + strong reasoning</a:t>
            </a:r>
          </a:p>
        </p:txBody>
      </p:sp>
    </p:spTree>
    <p:extLst>
      <p:ext uri="{BB962C8B-B14F-4D97-AF65-F5344CB8AC3E}">
        <p14:creationId xmlns:p14="http://schemas.microsoft.com/office/powerpoint/2010/main" val="3125224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73E48-3094-877B-B780-8568DB3326F1}"/>
              </a:ext>
            </a:extLst>
          </p:cNvPr>
          <p:cNvSpPr txBox="1"/>
          <p:nvPr/>
        </p:nvSpPr>
        <p:spPr>
          <a:xfrm>
            <a:off x="508000" y="190500"/>
            <a:ext cx="11176000" cy="430887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200" b="1">
                <a:solidFill>
                  <a:srgbClr val="006078"/>
                </a:solidFill>
              </a:rPr>
              <a:t>Architecture Diagram &amp; Tech Spec Generation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76848D-546D-3CAE-E1D8-0B097A673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102292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061778884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71572613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88932755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617886252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Architecture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Tech Specs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9471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 (manual)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Component-level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Moderate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423113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System-wide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5379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Claude Code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(guidance)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Detailed limited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737033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(guidance)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Detailed transparent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415966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(Cascade)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End-to-end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2642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EDB8856-D26C-7026-7B14-B735737E5D54}"/>
              </a:ext>
            </a:extLst>
          </p:cNvPr>
          <p:cNvSpPr txBox="1"/>
          <p:nvPr/>
        </p:nvSpPr>
        <p:spPr>
          <a:xfrm>
            <a:off x="508000" y="5588000"/>
            <a:ext cx="11176000" cy="276999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200" b="1">
                <a:solidFill>
                  <a:srgbClr val="00CC00"/>
                </a:solidFill>
              </a:rPr>
              <a:t>Key: Large context tools generate more accurate diagrams</a:t>
            </a:r>
          </a:p>
        </p:txBody>
      </p:sp>
    </p:spTree>
    <p:extLst>
      <p:ext uri="{BB962C8B-B14F-4D97-AF65-F5344CB8AC3E}">
        <p14:creationId xmlns:p14="http://schemas.microsoft.com/office/powerpoint/2010/main" val="62959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91EB-AC53-314C-3C47-7D51146E0D1D}"/>
              </a:ext>
            </a:extLst>
          </p:cNvPr>
          <p:cNvSpPr txBox="1"/>
          <p:nvPr/>
        </p:nvSpPr>
        <p:spPr>
          <a:xfrm>
            <a:off x="508000" y="190500"/>
            <a:ext cx="11176000" cy="492443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600" b="1">
                <a:solidFill>
                  <a:srgbClr val="006078"/>
                </a:solidFill>
              </a:rPr>
              <a:t>Modernization Performance Factors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FBCD39-04CD-DF19-6578-802012E60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787762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46533545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15600786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672261888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644033518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Speed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Multi-File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Large Codebase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91645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Fast (small)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Struggles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73953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Moderate thorough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Handles entire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15504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Fast structured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43852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Claude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(guidance)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 200K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57582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Moderate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(control)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 200K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00991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72470B9-78CA-280E-6054-A37C9153414D}"/>
              </a:ext>
            </a:extLst>
          </p:cNvPr>
          <p:cNvSpPr txBox="1"/>
          <p:nvPr/>
        </p:nvSpPr>
        <p:spPr>
          <a:xfrm>
            <a:off x="508000" y="5588000"/>
            <a:ext cx="11176000" cy="276999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200" b="1">
                <a:solidFill>
                  <a:srgbClr val="00CC00"/>
                </a:solidFill>
              </a:rPr>
              <a:t>Key: Trade speed for comprehensive understanding</a:t>
            </a:r>
          </a:p>
        </p:txBody>
      </p:sp>
    </p:spTree>
    <p:extLst>
      <p:ext uri="{BB962C8B-B14F-4D97-AF65-F5344CB8AC3E}">
        <p14:creationId xmlns:p14="http://schemas.microsoft.com/office/powerpoint/2010/main" val="2243276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517B23-51C7-C7EF-B9AB-EE0267BFCED9}"/>
              </a:ext>
            </a:extLst>
          </p:cNvPr>
          <p:cNvSpPr txBox="1"/>
          <p:nvPr/>
        </p:nvSpPr>
        <p:spPr>
          <a:xfrm>
            <a:off x="508000" y="190500"/>
            <a:ext cx="11176000" cy="461665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400" b="1">
                <a:solidFill>
                  <a:srgbClr val="006078"/>
                </a:solidFill>
              </a:rPr>
              <a:t>Interactive Modernization Experience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F07BB9-EFDA-36D2-37CE-DED967EAB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515633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118560660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957019485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961783315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1810844564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709195727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Real-time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Clarify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Voice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UX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424341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003501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837507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508202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Claude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30956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5216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84186DC-6AB5-51AD-15AC-92556A5EFF1A}"/>
              </a:ext>
            </a:extLst>
          </p:cNvPr>
          <p:cNvSpPr txBox="1"/>
          <p:nvPr/>
        </p:nvSpPr>
        <p:spPr>
          <a:xfrm>
            <a:off x="508000" y="5588000"/>
            <a:ext cx="11176000" cy="26161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100" b="1">
                <a:solidFill>
                  <a:srgbClr val="00CC00"/>
                </a:solidFill>
              </a:rPr>
              <a:t>Key: Cursor best UX with voice input. Cursor/Windsurf allow clarifications while processing</a:t>
            </a:r>
          </a:p>
        </p:txBody>
      </p:sp>
    </p:spTree>
    <p:extLst>
      <p:ext uri="{BB962C8B-B14F-4D97-AF65-F5344CB8AC3E}">
        <p14:creationId xmlns:p14="http://schemas.microsoft.com/office/powerpoint/2010/main" val="233434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6AB0B0-26EE-027F-44AE-EA0CEB1E17E5}"/>
              </a:ext>
            </a:extLst>
          </p:cNvPr>
          <p:cNvSpPr txBox="1"/>
          <p:nvPr/>
        </p:nvSpPr>
        <p:spPr>
          <a:xfrm>
            <a:off x="508000" y="190500"/>
            <a:ext cx="11176000" cy="52322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800" b="1">
                <a:solidFill>
                  <a:srgbClr val="006078"/>
                </a:solidFill>
              </a:rPr>
              <a:t>Token Limit Behavior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067861-9442-28E7-3764-8F32A4FE9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066662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98463975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68453127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111841879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4131449668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Context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111815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200K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Hard stop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High - frequent restarts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2928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200K/1M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Soft refresh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Low - seamless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471567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Soft refresh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Low - rarely hits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98589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Claude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Hard 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High - loses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05164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200K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Hard stop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Medium - task isolation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9636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55BC8B4-A54E-A89F-061F-C6979B213D40}"/>
              </a:ext>
            </a:extLst>
          </p:cNvPr>
          <p:cNvSpPr txBox="1"/>
          <p:nvPr/>
        </p:nvSpPr>
        <p:spPr>
          <a:xfrm>
            <a:off x="508000" y="5588000"/>
            <a:ext cx="11176000" cy="26161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100" b="1">
                <a:solidFill>
                  <a:srgbClr val="00CC00"/>
                </a:solidFill>
              </a:rPr>
              <a:t>Key: 1M + soft refresh critical. Hard stops lose architectural understanding</a:t>
            </a:r>
          </a:p>
        </p:txBody>
      </p:sp>
    </p:spTree>
    <p:extLst>
      <p:ext uri="{BB962C8B-B14F-4D97-AF65-F5344CB8AC3E}">
        <p14:creationId xmlns:p14="http://schemas.microsoft.com/office/powerpoint/2010/main" val="3554375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A601B3-0D22-08F9-E398-7B0F647A897B}"/>
              </a:ext>
            </a:extLst>
          </p:cNvPr>
          <p:cNvSpPr txBox="1"/>
          <p:nvPr/>
        </p:nvSpPr>
        <p:spPr>
          <a:xfrm>
            <a:off x="508000" y="190500"/>
            <a:ext cx="11176000" cy="52322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800" b="1">
                <a:solidFill>
                  <a:srgbClr val="006078"/>
                </a:solidFill>
              </a:rPr>
              <a:t>Best Practices: Token Limits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0E6E2-A80E-5DA2-2CD5-8D365864CEFE}"/>
              </a:ext>
            </a:extLst>
          </p:cNvPr>
          <p:cNvSpPr txBox="1"/>
          <p:nvPr/>
        </p:nvSpPr>
        <p:spPr>
          <a:xfrm>
            <a:off x="508000" y="889000"/>
            <a:ext cx="11176000" cy="3231654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pPr indent="-285750">
              <a:buChar char="•"/>
            </a:pPr>
            <a:r>
              <a:rPr lang="en-US" sz="1700"/>
              <a:t>With 200K tools:
Break large apps into modules
Document context between sessions
With 1M tools:
Use Max Mode (Cursor) or default 1M (Windsurf)
Uninterrupted analysis of large systems
All tools:
Export important context (architecture diagrams)
Document key decisions before hitting limits
Maintain architectural understanding across sessions</a:t>
            </a:r>
          </a:p>
        </p:txBody>
      </p:sp>
    </p:spTree>
    <p:extLst>
      <p:ext uri="{BB962C8B-B14F-4D97-AF65-F5344CB8AC3E}">
        <p14:creationId xmlns:p14="http://schemas.microsoft.com/office/powerpoint/2010/main" val="1250978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2E1636-BA7C-8FBB-8666-9B3A5D1A7C72}"/>
              </a:ext>
            </a:extLst>
          </p:cNvPr>
          <p:cNvSpPr txBox="1"/>
          <p:nvPr/>
        </p:nvSpPr>
        <p:spPr>
          <a:xfrm>
            <a:off x="508000" y="190500"/>
            <a:ext cx="11176000" cy="492443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600" b="1">
                <a:solidFill>
                  <a:srgbClr val="006078"/>
                </a:solidFill>
              </a:rPr>
              <a:t>Modernization Planning Capabilities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31C917-031E-BFFF-8B08-45C1F3370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770482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436005243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18047083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015454969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689071665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Plan Generation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Detail Level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Execution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384939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 (component)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Moderate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code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940957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(system)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detailed (1M)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983361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(roadmaps)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detailed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127989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Claude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(conversational)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162917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(transparent)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control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8260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ED2D51-5F63-E05B-6DE9-7F0827A14B0B}"/>
              </a:ext>
            </a:extLst>
          </p:cNvPr>
          <p:cNvSpPr txBox="1"/>
          <p:nvPr/>
        </p:nvSpPr>
        <p:spPr>
          <a:xfrm>
            <a:off x="508000" y="5588000"/>
            <a:ext cx="11176000" cy="26161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100" b="1">
                <a:solidFill>
                  <a:srgbClr val="00CC00"/>
                </a:solidFill>
              </a:rPr>
              <a:t>Key: Cursor/Windsurf excel at comprehensive plans due to understanding entire systems</a:t>
            </a:r>
          </a:p>
        </p:txBody>
      </p:sp>
    </p:spTree>
    <p:extLst>
      <p:ext uri="{BB962C8B-B14F-4D97-AF65-F5344CB8AC3E}">
        <p14:creationId xmlns:p14="http://schemas.microsoft.com/office/powerpoint/2010/main" val="2920120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481713-50EE-2F0C-FB4D-4C41BDACD0A1}"/>
              </a:ext>
            </a:extLst>
          </p:cNvPr>
          <p:cNvSpPr txBox="1"/>
          <p:nvPr/>
        </p:nvSpPr>
        <p:spPr>
          <a:xfrm>
            <a:off x="508000" y="190500"/>
            <a:ext cx="11176000" cy="461665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400" b="1">
                <a:solidFill>
                  <a:srgbClr val="006078"/>
                </a:solidFill>
              </a:rPr>
              <a:t>Legacy-to-Modern Architecture Migration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E3A8B2-61F8-B1D4-C5FD-FBF018227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376420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426700644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209060645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53162733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896254949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Monolith-&gt;Microservices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Cloud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907605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(individual)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schemas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(Azure)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002567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(system)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good 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(any cloud)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460822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(roadmaps)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good modeling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(any cloud)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889767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Claude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(guided)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(limited)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(any cloud)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29461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(controlled)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(limited)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(any cloud)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6493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DDDCA20-4D95-B1F2-E43C-BECF4701C637}"/>
              </a:ext>
            </a:extLst>
          </p:cNvPr>
          <p:cNvSpPr txBox="1"/>
          <p:nvPr/>
        </p:nvSpPr>
        <p:spPr>
          <a:xfrm>
            <a:off x="508000" y="5588000"/>
            <a:ext cx="11176000" cy="26161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100" b="1">
                <a:solidFill>
                  <a:srgbClr val="00CC00"/>
                </a:solidFill>
              </a:rPr>
              <a:t>Key: Modernization requires coordinated changes across multiple systems</a:t>
            </a:r>
          </a:p>
        </p:txBody>
      </p:sp>
    </p:spTree>
    <p:extLst>
      <p:ext uri="{BB962C8B-B14F-4D97-AF65-F5344CB8AC3E}">
        <p14:creationId xmlns:p14="http://schemas.microsoft.com/office/powerpoint/2010/main" val="2550657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1A1786-F2B1-3153-D323-30B5DAA25FB8}"/>
              </a:ext>
            </a:extLst>
          </p:cNvPr>
          <p:cNvSpPr txBox="1"/>
          <p:nvPr/>
        </p:nvSpPr>
        <p:spPr>
          <a:xfrm>
            <a:off x="508000" y="190500"/>
            <a:ext cx="11176000" cy="461665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400" b="1">
                <a:solidFill>
                  <a:srgbClr val="006078"/>
                </a:solidFill>
              </a:rPr>
              <a:t>Enterprise Modernization Requirements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FEB0DD-A071-4AC1-864B-DDB256768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38202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62576558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5479377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88353031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726285008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Compliance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Collaboration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043886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Claude Code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data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audit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951757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(air-gap)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(self-host)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189682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(Enterprise)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policy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(GitHub)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488165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good policies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(Business)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905227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data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tracking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(Teams)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62315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EDAEBF0-F67A-1A5B-E63B-923C31EF9745}"/>
              </a:ext>
            </a:extLst>
          </p:cNvPr>
          <p:cNvSpPr txBox="1"/>
          <p:nvPr/>
        </p:nvSpPr>
        <p:spPr>
          <a:xfrm>
            <a:off x="508000" y="5588000"/>
            <a:ext cx="11176000" cy="26161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100" b="1">
                <a:solidFill>
                  <a:srgbClr val="00CC00"/>
                </a:solidFill>
              </a:rPr>
              <a:t>Key: Only Cline offers air-gapped deployment for maximum security</a:t>
            </a:r>
          </a:p>
        </p:txBody>
      </p:sp>
    </p:spTree>
    <p:extLst>
      <p:ext uri="{BB962C8B-B14F-4D97-AF65-F5344CB8AC3E}">
        <p14:creationId xmlns:p14="http://schemas.microsoft.com/office/powerpoint/2010/main" val="212200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82B3FF-924A-11BF-A558-451C5ED9394F}"/>
              </a:ext>
            </a:extLst>
          </p:cNvPr>
          <p:cNvSpPr txBox="1"/>
          <p:nvPr/>
        </p:nvSpPr>
        <p:spPr>
          <a:xfrm>
            <a:off x="508000" y="190500"/>
            <a:ext cx="11176000" cy="492443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600" b="1">
                <a:solidFill>
                  <a:srgbClr val="006078"/>
                </a:solidFill>
              </a:rPr>
              <a:t>Legacy Modernization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EFE86-6467-E13B-5A7A-44933C4C0170}"/>
              </a:ext>
            </a:extLst>
          </p:cNvPr>
          <p:cNvSpPr txBox="1"/>
          <p:nvPr/>
        </p:nvSpPr>
        <p:spPr>
          <a:xfrm>
            <a:off x="508000" y="889000"/>
            <a:ext cx="11176000" cy="3554819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pPr indent="-285750">
              <a:buChar char="•"/>
            </a:pPr>
            <a:r>
              <a:rPr lang="en-US" sz="1500"/>
              <a:t>Large Monolithic Apps (&gt;300K LOC):
Best: Cursor or Windsurf IDE
1M context essential for entire system
Incremental Modernization:
Best: GitHub Copilot
Faster for targeted improvements
Regulated Industries:
Best: Cline
Air-gapped deployment for sensitive codebases
Cost-Effective Large Projects:
Best: Windsurf IDE
Lowest cost with 1M capability</a:t>
            </a:r>
          </a:p>
        </p:txBody>
      </p:sp>
    </p:spTree>
    <p:extLst>
      <p:ext uri="{BB962C8B-B14F-4D97-AF65-F5344CB8AC3E}">
        <p14:creationId xmlns:p14="http://schemas.microsoft.com/office/powerpoint/2010/main" val="737344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F219E9-B153-AA16-7ACF-585419A2917A}"/>
              </a:ext>
            </a:extLst>
          </p:cNvPr>
          <p:cNvSpPr txBox="1"/>
          <p:nvPr/>
        </p:nvSpPr>
        <p:spPr>
          <a:xfrm>
            <a:off x="508000" y="190500"/>
            <a:ext cx="11176000" cy="461665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400" b="1">
                <a:solidFill>
                  <a:srgbClr val="006078"/>
                </a:solidFill>
              </a:rPr>
              <a:t>Large App Performance (500K+ LOC)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28A59D-C147-81D8-726C-8ECAFF731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251240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67">
                  <a:extLst>
                    <a:ext uri="{9D8B030D-6E8A-4147-A177-3AD203B41FA5}">
                      <a16:colId xmlns:a16="http://schemas.microsoft.com/office/drawing/2014/main" val="1940054730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489119644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401267175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471248399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082288313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357669111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Copilot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Cursor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Windsurf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Cline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90531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Analyze entire app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[NO]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[YES]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[YES]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[NO]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[NO]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016842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Cross-module deps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220667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Migration roadmap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 Basic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Comprehensive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Structured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Detailed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551279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Multi-file refactor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017804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Business logic accuracy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1174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BFE77D5-8252-5E30-2BBE-9FEBAC222C32}"/>
              </a:ext>
            </a:extLst>
          </p:cNvPr>
          <p:cNvSpPr txBox="1"/>
          <p:nvPr/>
        </p:nvSpPr>
        <p:spPr>
          <a:xfrm>
            <a:off x="508000" y="5588000"/>
            <a:ext cx="11176000" cy="26161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100" b="1">
                <a:solidFill>
                  <a:srgbClr val="00CC00"/>
                </a:solidFill>
              </a:rPr>
              <a:t>Key: Only Cursor/Windsurf provide holistic understanding, cutting time nearly in half</a:t>
            </a:r>
          </a:p>
        </p:txBody>
      </p:sp>
    </p:spTree>
    <p:extLst>
      <p:ext uri="{BB962C8B-B14F-4D97-AF65-F5344CB8AC3E}">
        <p14:creationId xmlns:p14="http://schemas.microsoft.com/office/powerpoint/2010/main" val="2912948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734A8F-D29D-B824-ED3C-D3952F0BA759}"/>
              </a:ext>
            </a:extLst>
          </p:cNvPr>
          <p:cNvSpPr txBox="1"/>
          <p:nvPr/>
        </p:nvSpPr>
        <p:spPr>
          <a:xfrm>
            <a:off x="508000" y="190500"/>
            <a:ext cx="11176000" cy="430887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200" b="1">
                <a:solidFill>
                  <a:srgbClr val="006078"/>
                </a:solidFill>
              </a:rPr>
              <a:t>Medium App Performance (100K-300K LOC)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7AF424-D681-194A-A634-673C7FA26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718827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67">
                  <a:extLst>
                    <a:ext uri="{9D8B030D-6E8A-4147-A177-3AD203B41FA5}">
                      <a16:colId xmlns:a16="http://schemas.microsoft.com/office/drawing/2014/main" val="1322568682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4227000405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2589741450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642317452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518001023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132759196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Copilot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Cursor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Windsurf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Cline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337365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Analyze entire app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Partial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[YES]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[YES]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Partial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Partial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86849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Cross-module deps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771074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Migration roadmap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Comprehensive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Structured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350178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Multi-file refactor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798748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Code gen speed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Fastest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Fast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Fast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Moderate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Moderate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86308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2D8B9B8-AF81-0C4D-59AE-4DA3038B5DAF}"/>
              </a:ext>
            </a:extLst>
          </p:cNvPr>
          <p:cNvSpPr txBox="1"/>
          <p:nvPr/>
        </p:nvSpPr>
        <p:spPr>
          <a:xfrm>
            <a:off x="508000" y="5588000"/>
            <a:ext cx="11176000" cy="26161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100" b="1">
                <a:solidFill>
                  <a:srgbClr val="00CC00"/>
                </a:solidFill>
              </a:rPr>
              <a:t>Key: All perform well, but Cursor/Windsurf lead with comprehensive understanding</a:t>
            </a:r>
          </a:p>
        </p:txBody>
      </p:sp>
    </p:spTree>
    <p:extLst>
      <p:ext uri="{BB962C8B-B14F-4D97-AF65-F5344CB8AC3E}">
        <p14:creationId xmlns:p14="http://schemas.microsoft.com/office/powerpoint/2010/main" val="2786983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0EDC-A571-D585-CF64-C89310C9E2BF}"/>
              </a:ext>
            </a:extLst>
          </p:cNvPr>
          <p:cNvSpPr txBox="1"/>
          <p:nvPr/>
        </p:nvSpPr>
        <p:spPr>
          <a:xfrm>
            <a:off x="508000" y="190500"/>
            <a:ext cx="11176000" cy="430887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200" b="1">
                <a:solidFill>
                  <a:srgbClr val="006078"/>
                </a:solidFill>
              </a:rPr>
              <a:t>Small App Performance (&lt;100K LOC)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393716-92D6-D6FA-2137-654275401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640254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67">
                  <a:extLst>
                    <a:ext uri="{9D8B030D-6E8A-4147-A177-3AD203B41FA5}">
                      <a16:colId xmlns:a16="http://schemas.microsoft.com/office/drawing/2014/main" val="907401250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57331679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2943374568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244181286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81287903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2116575567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Copilot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Cursor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Windsurf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Cline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355866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Analyze entire app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[YES]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[YES]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[YES]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[YES]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[YES]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126114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Code gen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Fastest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Moderate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808472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Ease of use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Easiest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Easy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Easy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Very Easy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Moderate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097077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Time to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2.5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2.5 months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056685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Best use case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Fast incremental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Comprehensive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Structured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Documentation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Secure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05933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B9B3808-390D-1A04-FDEC-1AE5635EF627}"/>
              </a:ext>
            </a:extLst>
          </p:cNvPr>
          <p:cNvSpPr txBox="1"/>
          <p:nvPr/>
        </p:nvSpPr>
        <p:spPr>
          <a:xfrm>
            <a:off x="508000" y="5588000"/>
            <a:ext cx="11176000" cy="26161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100" b="1">
                <a:solidFill>
                  <a:srgbClr val="00CC00"/>
                </a:solidFill>
              </a:rPr>
              <a:t>Key: Copilot's speed best for small apps unless comprehensive refactoring needed</a:t>
            </a:r>
          </a:p>
        </p:txBody>
      </p:sp>
    </p:spTree>
    <p:extLst>
      <p:ext uri="{BB962C8B-B14F-4D97-AF65-F5344CB8AC3E}">
        <p14:creationId xmlns:p14="http://schemas.microsoft.com/office/powerpoint/2010/main" val="2054603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8BA603-F8E7-1BF4-04AB-BC9AB4C0DB0B}"/>
              </a:ext>
            </a:extLst>
          </p:cNvPr>
          <p:cNvSpPr txBox="1"/>
          <p:nvPr/>
        </p:nvSpPr>
        <p:spPr>
          <a:xfrm>
            <a:off x="508000" y="190500"/>
            <a:ext cx="11176000" cy="461665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400" b="1">
                <a:solidFill>
                  <a:srgbClr val="006078"/>
                </a:solidFill>
              </a:rPr>
              <a:t>Legacy Tech Stack Compatibility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A16150-43BC-60BC-4C53-DE7504F0A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769378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67">
                  <a:extLst>
                    <a:ext uri="{9D8B030D-6E8A-4147-A177-3AD203B41FA5}">
                      <a16:colId xmlns:a16="http://schemas.microsoft.com/office/drawing/2014/main" val="1014324085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2210780277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876622213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194462494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75999703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262334481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Copilot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Cursor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Windsurf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Cline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723598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sz="900"/>
                        <a:t>Java (Spring, Struts)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51326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sz="900"/>
                        <a:t>.NET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901218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sz="900"/>
                        <a:t>Python 2.x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49994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sz="900"/>
                        <a:t>PHP 5.x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427096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sz="900"/>
                        <a:t>COBOL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27161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sz="900"/>
                        <a:t>Ruby on 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969508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sz="900"/>
                        <a:t>Node.js (early)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8142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E248FA7-9FD8-8BB5-D014-CE99202D3E6E}"/>
              </a:ext>
            </a:extLst>
          </p:cNvPr>
          <p:cNvSpPr txBox="1"/>
          <p:nvPr/>
        </p:nvSpPr>
        <p:spPr>
          <a:xfrm>
            <a:off x="508000" y="5588000"/>
            <a:ext cx="11176000" cy="246221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000" b="1">
                <a:solidFill>
                  <a:srgbClr val="00CC00"/>
                </a:solidFill>
              </a:rPr>
              <a:t>Key: All handle modern stacks well. For old tech, Cursor/Windsurf better with larger context</a:t>
            </a:r>
          </a:p>
        </p:txBody>
      </p:sp>
    </p:spTree>
    <p:extLst>
      <p:ext uri="{BB962C8B-B14F-4D97-AF65-F5344CB8AC3E}">
        <p14:creationId xmlns:p14="http://schemas.microsoft.com/office/powerpoint/2010/main" val="2438935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9D73E8-B4EC-BB15-0E0C-0BC70386CAAE}"/>
              </a:ext>
            </a:extLst>
          </p:cNvPr>
          <p:cNvSpPr txBox="1"/>
          <p:nvPr/>
        </p:nvSpPr>
        <p:spPr>
          <a:xfrm>
            <a:off x="508000" y="190500"/>
            <a:ext cx="11176000" cy="461665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400" b="1">
                <a:solidFill>
                  <a:srgbClr val="006078"/>
                </a:solidFill>
              </a:rPr>
              <a:t>Common Modernization Patterns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29E4F8-8BB1-8F14-5C44-1D6B4776B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962312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67">
                  <a:extLst>
                    <a:ext uri="{9D8B030D-6E8A-4147-A177-3AD203B41FA5}">
                      <a16:colId xmlns:a16="http://schemas.microsoft.com/office/drawing/2014/main" val="1753352665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342104101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511176521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886232623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409692484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600941045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Pattern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Copilot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Cursor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Windsurf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Cline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31262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Monolith-&gt;Microservices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60441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Stored Proc-&gt;ORM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9725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Spaghetti-&gt;Clean Arch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 Limited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60417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Global-&gt;Dependency Inj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24603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Tightly-&gt;Loosely Coupled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21183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Legacy Auth-&gt;OAuth2/JWT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0845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C8E0B0C-2B11-B949-813A-79A4C27078FB}"/>
              </a:ext>
            </a:extLst>
          </p:cNvPr>
          <p:cNvSpPr txBox="1"/>
          <p:nvPr/>
        </p:nvSpPr>
        <p:spPr>
          <a:xfrm>
            <a:off x="508000" y="5588000"/>
            <a:ext cx="11176000" cy="246221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000" b="1">
                <a:solidFill>
                  <a:srgbClr val="00CC00"/>
                </a:solidFill>
              </a:rPr>
              <a:t>Key: Cursor/Windsurf excel at system-wide. Copilot better for localized patterns</a:t>
            </a:r>
          </a:p>
        </p:txBody>
      </p:sp>
    </p:spTree>
    <p:extLst>
      <p:ext uri="{BB962C8B-B14F-4D97-AF65-F5344CB8AC3E}">
        <p14:creationId xmlns:p14="http://schemas.microsoft.com/office/powerpoint/2010/main" val="1630225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0B25B7-0BC4-0550-CAAF-89600D962543}"/>
              </a:ext>
            </a:extLst>
          </p:cNvPr>
          <p:cNvSpPr txBox="1"/>
          <p:nvPr/>
        </p:nvSpPr>
        <p:spPr>
          <a:xfrm>
            <a:off x="508000" y="190500"/>
            <a:ext cx="11176000" cy="461665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400" b="1">
                <a:solidFill>
                  <a:srgbClr val="006078"/>
                </a:solidFill>
              </a:rPr>
              <a:t>Legacy Database Modernization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50AF1C-F51C-1BC7-D15C-15834AE6B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39892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67">
                  <a:extLst>
                    <a:ext uri="{9D8B030D-6E8A-4147-A177-3AD203B41FA5}">
                      <a16:colId xmlns:a16="http://schemas.microsoft.com/office/drawing/2014/main" val="1974004538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627844358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259419375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60133215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4105719367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423002239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Copilot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Cursor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Windsurf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Cline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4832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Schema analysis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01235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Migration 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61647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Stored proc-&gt;code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71785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Complex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 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26076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Data model refactor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033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NoSQL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0470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86B9576-CFEA-0010-42E5-ECC28F6EC682}"/>
              </a:ext>
            </a:extLst>
          </p:cNvPr>
          <p:cNvSpPr txBox="1"/>
          <p:nvPr/>
        </p:nvSpPr>
        <p:spPr>
          <a:xfrm>
            <a:off x="508000" y="5588000"/>
            <a:ext cx="11176000" cy="246221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000" b="1">
                <a:solidFill>
                  <a:srgbClr val="00CC00"/>
                </a:solidFill>
              </a:rPr>
              <a:t>Key: Large context critical for understanding entire schemas and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73241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3242B7-5F83-13EE-4961-DAAA4C4AA59B}"/>
              </a:ext>
            </a:extLst>
          </p:cNvPr>
          <p:cNvSpPr txBox="1"/>
          <p:nvPr/>
        </p:nvSpPr>
        <p:spPr>
          <a:xfrm>
            <a:off x="508000" y="190500"/>
            <a:ext cx="11176000" cy="461665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400" b="1">
                <a:solidFill>
                  <a:srgbClr val="006078"/>
                </a:solidFill>
              </a:rPr>
              <a:t>Legacy API Modernization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F9C6CC-7076-CE62-92F2-E88879C05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990074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67">
                  <a:extLst>
                    <a:ext uri="{9D8B030D-6E8A-4147-A177-3AD203B41FA5}">
                      <a16:colId xmlns:a16="http://schemas.microsoft.com/office/drawing/2014/main" val="2468016715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192031720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648232690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2417481835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099984152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873731457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Copilot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Cursor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Windsurf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Cline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75424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SOAP-&gt;REST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15287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REST-&gt;GraphQL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58646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OpenAPI specs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85468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API versioning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92165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Backward compat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 Limited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 Very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13747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900"/>
                        <a:t>API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****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7874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539FAE4-C598-FC83-88B3-48BD2D54BF60}"/>
              </a:ext>
            </a:extLst>
          </p:cNvPr>
          <p:cNvSpPr txBox="1"/>
          <p:nvPr/>
        </p:nvSpPr>
        <p:spPr>
          <a:xfrm>
            <a:off x="508000" y="5588000"/>
            <a:ext cx="11176000" cy="246221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000" b="1">
                <a:solidFill>
                  <a:srgbClr val="00CC00"/>
                </a:solidFill>
              </a:rPr>
              <a:t>Key: All handle API modernization well. Cursor excels at backward compatibility</a:t>
            </a:r>
          </a:p>
        </p:txBody>
      </p:sp>
    </p:spTree>
    <p:extLst>
      <p:ext uri="{BB962C8B-B14F-4D97-AF65-F5344CB8AC3E}">
        <p14:creationId xmlns:p14="http://schemas.microsoft.com/office/powerpoint/2010/main" val="3820150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9638D5-143F-118E-4DDB-84F412307901}"/>
              </a:ext>
            </a:extLst>
          </p:cNvPr>
          <p:cNvSpPr txBox="1"/>
          <p:nvPr/>
        </p:nvSpPr>
        <p:spPr>
          <a:xfrm>
            <a:off x="508000" y="190500"/>
            <a:ext cx="11176000" cy="430887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200" b="1">
                <a:solidFill>
                  <a:srgbClr val="006078"/>
                </a:solidFill>
              </a:rPr>
              <a:t>Tools vs. Legacy Modernization Challenges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D3BE41-F348-CA26-83AC-4E169DB93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866713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67">
                  <a:extLst>
                    <a:ext uri="{9D8B030D-6E8A-4147-A177-3AD203B41FA5}">
                      <a16:colId xmlns:a16="http://schemas.microsoft.com/office/drawing/2014/main" val="2174941211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167855747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2613580408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797017957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2907376066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879611252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Copilot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Cursor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Windsurf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Cline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6135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Large codebases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 200K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1M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1M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 200K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 200K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935554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Complex refactoring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(small)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(Composer)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(Cascade)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(guidance)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(transparency)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88691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Technical debt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patterns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docs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structured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explanations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control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388707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Cross-file deps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good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Manual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751002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Business logic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generation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preservation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preservation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reasoning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reasoning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70207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A87D9AF-F3BC-F798-E851-DD142D026080}"/>
              </a:ext>
            </a:extLst>
          </p:cNvPr>
          <p:cNvSpPr txBox="1"/>
          <p:nvPr/>
        </p:nvSpPr>
        <p:spPr>
          <a:xfrm>
            <a:off x="508000" y="5588000"/>
            <a:ext cx="11176000" cy="246221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000" b="1">
                <a:solidFill>
                  <a:srgbClr val="00CC00"/>
                </a:solidFill>
              </a:rPr>
              <a:t>Key: Larger context + multi-file capabilities address more challenges effectively</a:t>
            </a:r>
          </a:p>
        </p:txBody>
      </p:sp>
    </p:spTree>
    <p:extLst>
      <p:ext uri="{BB962C8B-B14F-4D97-AF65-F5344CB8AC3E}">
        <p14:creationId xmlns:p14="http://schemas.microsoft.com/office/powerpoint/2010/main" val="4027222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F76FA4-CE8A-C723-6F23-4A5602CF7AC2}"/>
              </a:ext>
            </a:extLst>
          </p:cNvPr>
          <p:cNvSpPr txBox="1"/>
          <p:nvPr/>
        </p:nvSpPr>
        <p:spPr>
          <a:xfrm>
            <a:off x="508000" y="190500"/>
            <a:ext cx="11176000" cy="430887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200" b="1">
                <a:solidFill>
                  <a:srgbClr val="006078"/>
                </a:solidFill>
              </a:rPr>
              <a:t>Legacy Modernization Success Factors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C7DE59-2362-9103-4D64-043D5400A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20656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67">
                  <a:extLst>
                    <a:ext uri="{9D8B030D-6E8A-4147-A177-3AD203B41FA5}">
                      <a16:colId xmlns:a16="http://schemas.microsoft.com/office/drawing/2014/main" val="2061841578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582471518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605235349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965076583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795874366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339694913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Factor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Copilot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Cursor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Windsurf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Cline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751483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Context capacity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 (200K)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(1M)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(1M)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 (200K)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 (200K)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640307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Multi-file refactor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211991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Security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 (Enterprise)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(air-gap)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363079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Structured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466096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Project scale match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Small-Medium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Large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Large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Medium-Large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3731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A46847C-FD8B-FF88-61FF-35B14B4727AA}"/>
              </a:ext>
            </a:extLst>
          </p:cNvPr>
          <p:cNvSpPr txBox="1"/>
          <p:nvPr/>
        </p:nvSpPr>
        <p:spPr>
          <a:xfrm>
            <a:off x="508000" y="5588000"/>
            <a:ext cx="11176000" cy="246221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000" b="1">
                <a:solidFill>
                  <a:srgbClr val="00CC00"/>
                </a:solidFill>
              </a:rPr>
              <a:t>Key: No single tool excels in all factors - choose based on your priorities</a:t>
            </a:r>
          </a:p>
        </p:txBody>
      </p:sp>
    </p:spTree>
    <p:extLst>
      <p:ext uri="{BB962C8B-B14F-4D97-AF65-F5344CB8AC3E}">
        <p14:creationId xmlns:p14="http://schemas.microsoft.com/office/powerpoint/2010/main" val="1910562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90C91E-DAF3-6566-233A-DE18463D8106}"/>
              </a:ext>
            </a:extLst>
          </p:cNvPr>
          <p:cNvSpPr txBox="1"/>
          <p:nvPr/>
        </p:nvSpPr>
        <p:spPr>
          <a:xfrm>
            <a:off x="508000" y="190500"/>
            <a:ext cx="11176000" cy="52322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800" b="1">
                <a:solidFill>
                  <a:srgbClr val="006078"/>
                </a:solidFill>
              </a:rPr>
              <a:t>Tool Selection Matrix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96533C-3D10-EE98-3B87-E791F7B0C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812056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89575946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550977634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830232855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153309067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Best Tool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Second Choice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3267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900"/>
                        <a:t>Large monolith (&gt;300K)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Windsurf IDE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1M context essential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38818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900"/>
                        <a:t>Security-critical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Copilot 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Air-gapped 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30261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900"/>
                        <a:t>Rapid updates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Claude Code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Fast code generation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17202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900"/>
                        <a:t>Microservices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Structured planning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6249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900"/>
                        <a:t>Limited budget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Best value with 1M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16693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900"/>
                        <a:t>Database modernization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Schema 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73402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900"/>
                        <a:t>Cloud (Azure)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Microsoft ecosystem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7329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900"/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Claude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Excellent explanations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52819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900"/>
                        <a:t>Team collaboration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Enterprise features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596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82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97C43C-5FC6-2A39-922C-B7210CC5FC16}"/>
              </a:ext>
            </a:extLst>
          </p:cNvPr>
          <p:cNvSpPr txBox="1"/>
          <p:nvPr/>
        </p:nvSpPr>
        <p:spPr>
          <a:xfrm>
            <a:off x="508000" y="190500"/>
            <a:ext cx="11176000" cy="461665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400" b="1">
                <a:solidFill>
                  <a:srgbClr val="006078"/>
                </a:solidFill>
              </a:rPr>
              <a:t>Modernization Risk Assessment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F33ACC-2E14-70B8-59E9-CA545A7D7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23375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67">
                  <a:extLst>
                    <a:ext uri="{9D8B030D-6E8A-4147-A177-3AD203B41FA5}">
                      <a16:colId xmlns:a16="http://schemas.microsoft.com/office/drawing/2014/main" val="1060991985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978572370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536400934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2268634331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2893314651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950005540"/>
                    </a:ext>
                  </a:extLst>
                </a:gridCol>
              </a:tblGrid>
              <a:tr h="493889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Risk Factor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Copilot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Cursor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Windsurf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Cline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379515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Missing dependencies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[WARN] High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[WARN] 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[WARN] 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251453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Breaking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[WARN] 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[WARN] 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486683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Incomplete refactor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[WARN] 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[WARN] 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345532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Security vulns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Very 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69164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Vendor lock-in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[WARN] 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[WARN] 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[WARN] 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[WARN] 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715074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Data 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Very 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66302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Learning curve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[WARN] 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[WARN] 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[OK] 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[WARN] High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388323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Overall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71087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996CA07-33E7-E124-F996-582B58AB1305}"/>
              </a:ext>
            </a:extLst>
          </p:cNvPr>
          <p:cNvSpPr txBox="1"/>
          <p:nvPr/>
        </p:nvSpPr>
        <p:spPr>
          <a:xfrm>
            <a:off x="508000" y="5588000"/>
            <a:ext cx="11176000" cy="246221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000" b="1">
                <a:solidFill>
                  <a:srgbClr val="00CC00"/>
                </a:solidFill>
              </a:rPr>
              <a:t>Key: Cursor/Windsurf lowest technical risk. Cline lowest security/privacy risk</a:t>
            </a:r>
          </a:p>
        </p:txBody>
      </p:sp>
    </p:spTree>
    <p:extLst>
      <p:ext uri="{BB962C8B-B14F-4D97-AF65-F5344CB8AC3E}">
        <p14:creationId xmlns:p14="http://schemas.microsoft.com/office/powerpoint/2010/main" val="2868782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F2004D-83E1-20A6-37D9-F4E9576CE1D7}"/>
              </a:ext>
            </a:extLst>
          </p:cNvPr>
          <p:cNvSpPr txBox="1"/>
          <p:nvPr/>
        </p:nvSpPr>
        <p:spPr>
          <a:xfrm>
            <a:off x="508000" y="190500"/>
            <a:ext cx="11176000" cy="461665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400" b="1">
                <a:solidFill>
                  <a:srgbClr val="006078"/>
                </a:solidFill>
              </a:rPr>
              <a:t>When NOT to Use AI for Modernization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CEBE87-7843-1802-34FD-F9BB9A167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878474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333">
                  <a:extLst>
                    <a:ext uri="{9D8B030D-6E8A-4147-A177-3AD203B41FA5}">
                      <a16:colId xmlns:a16="http://schemas.microsoft.com/office/drawing/2014/main" val="2273896637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1611073771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3627876994"/>
                    </a:ext>
                  </a:extLst>
                </a:gridCol>
              </a:tblGrid>
              <a:tr h="493889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Recommendation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473989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Zero tests/docs/SMEs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High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Hire domain consultants first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50361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Mission-critical zero downtime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AI for planning only, manual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821427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Proprietary language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High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AI will struggle, consider rewrite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320371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Highly regulated strict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Use Cline (air-gap) with human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787099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Complex undocumented stored procs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Use AI to document first, then modernize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511754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Real-time microsecond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AI for architecture, manual performance tuning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301801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Known security vulnerabilities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AI can help identify and fix during modernization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530303"/>
                  </a:ext>
                </a:extLst>
              </a:tr>
              <a:tr h="493889">
                <a:tc>
                  <a:txBody>
                    <a:bodyPr/>
                    <a:lstStyle/>
                    <a:p>
                      <a:r>
                        <a:rPr lang="en-US" sz="900"/>
                        <a:t>Well-documented with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Very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Perfect scenario, high success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54303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42230BB-BA1C-F6E5-F6CF-CAB783B957CB}"/>
              </a:ext>
            </a:extLst>
          </p:cNvPr>
          <p:cNvSpPr txBox="1"/>
          <p:nvPr/>
        </p:nvSpPr>
        <p:spPr>
          <a:xfrm>
            <a:off x="508000" y="5588000"/>
            <a:ext cx="11176000" cy="230832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900" b="1">
                <a:solidFill>
                  <a:srgbClr val="00CC00"/>
                </a:solidFill>
              </a:rPr>
              <a:t>Key: AI works best with SOME documentation/tests. For undocumented systems, document first</a:t>
            </a:r>
          </a:p>
        </p:txBody>
      </p:sp>
    </p:spTree>
    <p:extLst>
      <p:ext uri="{BB962C8B-B14F-4D97-AF65-F5344CB8AC3E}">
        <p14:creationId xmlns:p14="http://schemas.microsoft.com/office/powerpoint/2010/main" val="31157026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B6D3B4-5470-0E77-A272-50554D7665AE}"/>
              </a:ext>
            </a:extLst>
          </p:cNvPr>
          <p:cNvSpPr txBox="1"/>
          <p:nvPr/>
        </p:nvSpPr>
        <p:spPr>
          <a:xfrm>
            <a:off x="508000" y="190500"/>
            <a:ext cx="11176000" cy="461665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400" b="1">
                <a:solidFill>
                  <a:srgbClr val="006078"/>
                </a:solidFill>
              </a:rPr>
              <a:t>Multi-Model Support in Single Tools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A182DC-F021-8D6D-CFC9-B2B19F032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038664"/>
              </p:ext>
            </p:extLst>
          </p:nvPr>
        </p:nvGraphicFramePr>
        <p:xfrm>
          <a:off x="508000" y="889000"/>
          <a:ext cx="11176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333">
                  <a:extLst>
                    <a:ext uri="{9D8B030D-6E8A-4147-A177-3AD203B41FA5}">
                      <a16:colId xmlns:a16="http://schemas.microsoft.com/office/drawing/2014/main" val="2091845787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905263050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3520819568"/>
                    </a:ext>
                  </a:extLst>
                </a:gridCol>
              </a:tblGrid>
              <a:tr h="74083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Available Models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Compare?</a:t>
                      </a:r>
                    </a:p>
                  </a:txBody>
                  <a:tcPr>
                    <a:solidFill>
                      <a:srgbClr val="006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11310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Cursor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Claude 3.5/4/4.5, GPT-4/4o, o1-preview/mini</a:t>
                      </a:r>
                      <a:endParaRPr lang="en-US" sz="900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[YES] Switch models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904802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Windsurf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Claude, GPT-4o, Gemini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[YES] Switch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001753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Copilot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GPT-4/4o, Claude Sonnet 4, o1-preview/mini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[YES] Model selection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969401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Claude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Claude 3.5/4/4.5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[NO] Claude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917940"/>
                  </a:ext>
                </a:extLst>
              </a:tr>
              <a:tr h="740833">
                <a:tc>
                  <a:txBody>
                    <a:bodyPr/>
                    <a:lstStyle/>
                    <a:p>
                      <a:r>
                        <a:rPr lang="en-US" sz="900"/>
                        <a:t>Cline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900"/>
                        <a:t>Any model via API (flexible)</a:t>
                      </a:r>
                      <a:endParaRPr lang="en-US" sz="900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[YES] Highly flexible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0016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7499FC1-1925-9456-EFE3-53A92C41C799}"/>
              </a:ext>
            </a:extLst>
          </p:cNvPr>
          <p:cNvSpPr txBox="1"/>
          <p:nvPr/>
        </p:nvSpPr>
        <p:spPr>
          <a:xfrm>
            <a:off x="508000" y="5588000"/>
            <a:ext cx="11176000" cy="246221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000" b="1">
                <a:solidFill>
                  <a:srgbClr val="00CC00"/>
                </a:solidFill>
              </a:rPr>
              <a:t>Key: Modern tools support multiple models - compare Claude vs GPT-4 vs o1 within single tool</a:t>
            </a:r>
          </a:p>
        </p:txBody>
      </p:sp>
    </p:spTree>
    <p:extLst>
      <p:ext uri="{BB962C8B-B14F-4D97-AF65-F5344CB8AC3E}">
        <p14:creationId xmlns:p14="http://schemas.microsoft.com/office/powerpoint/2010/main" val="3578237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5CDCD5-3902-DED9-9384-77B46C9B6088}"/>
              </a:ext>
            </a:extLst>
          </p:cNvPr>
          <p:cNvSpPr txBox="1"/>
          <p:nvPr/>
        </p:nvSpPr>
        <p:spPr>
          <a:xfrm>
            <a:off x="508000" y="190500"/>
            <a:ext cx="11176000" cy="492443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600" b="1">
                <a:solidFill>
                  <a:srgbClr val="006078"/>
                </a:solidFill>
              </a:rPr>
              <a:t>When to Combine Multiple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777F1-8124-A68B-5B83-F9532ECB3C78}"/>
              </a:ext>
            </a:extLst>
          </p:cNvPr>
          <p:cNvSpPr txBox="1"/>
          <p:nvPr/>
        </p:nvSpPr>
        <p:spPr>
          <a:xfrm>
            <a:off x="508000" y="889000"/>
            <a:ext cx="11176000" cy="289310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pPr indent="-285750">
              <a:buChar char="•"/>
            </a:pPr>
            <a:r>
              <a:rPr lang="en-US" sz="1400"/>
              <a:t>Most projects need only ONE multi-model tool
Combine for UNIQUE FEATURES, not just models:
Windsurf's Cascade planning mode (structured roadmaps)
Cline's air-gapped deployment (security/compliance)
Copilot's deep Azure/GitHub integration
Different interaction paradigms (Composer/Flow/Task)
Cost optimization (1M tools for architects only)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379259-84E0-9A01-4D03-AA6C832E72B3}"/>
              </a:ext>
            </a:extLst>
          </p:cNvPr>
          <p:cNvSpPr txBox="1"/>
          <p:nvPr/>
        </p:nvSpPr>
        <p:spPr>
          <a:xfrm>
            <a:off x="508000" y="6350000"/>
            <a:ext cx="11176000" cy="276999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1200" b="1">
                <a:solidFill>
                  <a:srgbClr val="00CC00"/>
                </a:solidFill>
              </a:rPr>
              <a:t>Key: Value is in UNIQUE FEATURES and INTERACTION MODES, not just model access</a:t>
            </a:r>
          </a:p>
        </p:txBody>
      </p:sp>
    </p:spTree>
    <p:extLst>
      <p:ext uri="{BB962C8B-B14F-4D97-AF65-F5344CB8AC3E}">
        <p14:creationId xmlns:p14="http://schemas.microsoft.com/office/powerpoint/2010/main" val="1786006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31CD24-BBBD-800E-DD36-AC342031E1C1}"/>
              </a:ext>
            </a:extLst>
          </p:cNvPr>
          <p:cNvSpPr txBox="1"/>
          <p:nvPr/>
        </p:nvSpPr>
        <p:spPr>
          <a:xfrm>
            <a:off x="508000" y="190500"/>
            <a:ext cx="11176000" cy="523220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2800" b="1">
                <a:solidFill>
                  <a:srgbClr val="006078"/>
                </a:solidFill>
              </a:rPr>
              <a:t>Strategy: Analyze + Implement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D1DCB-5B1F-70B0-A27C-2EFA5A2F340F}"/>
              </a:ext>
            </a:extLst>
          </p:cNvPr>
          <p:cNvSpPr txBox="1"/>
          <p:nvPr/>
        </p:nvSpPr>
        <p:spPr>
          <a:xfrm>
            <a:off x="508000" y="889000"/>
            <a:ext cx="11176000" cy="3108543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pPr indent="-285750">
              <a:buChar char="•"/>
            </a:pPr>
            <a:r>
              <a:rPr lang="en-US" sz="1400"/>
              <a:t>Phase 1 - Analysis (Cursor Max Mode):
Load 1M context, generate architecture
Identify all dependencies and cross-cutting concerns
Create detailed modernization roadmap
Time: 1-2 weeks
Phase 2 - Implementation (GitHub Copilot):
Use Cursor's roadmap as guide
Implement changes incrementally with Copilot
Fast code generation for repetitive patterns
Time: 8-12 weeks
Benefits: Comprehensive understanding + fast implementation
Time saved: 67% (Real example: 500K LOC Java monolith)</a:t>
            </a:r>
          </a:p>
        </p:txBody>
      </p:sp>
    </p:spTree>
    <p:extLst>
      <p:ext uri="{BB962C8B-B14F-4D97-AF65-F5344CB8AC3E}">
        <p14:creationId xmlns:p14="http://schemas.microsoft.com/office/powerpoint/2010/main" val="1229831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A431BD-9515-C3C0-DD11-605E1DAB3D44}"/>
              </a:ext>
            </a:extLst>
          </p:cNvPr>
          <p:cNvSpPr txBox="1"/>
          <p:nvPr/>
        </p:nvSpPr>
        <p:spPr>
          <a:xfrm>
            <a:off x="508000" y="190500"/>
            <a:ext cx="11176000" cy="584775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r>
              <a:rPr lang="en-US" sz="3200" b="1">
                <a:solidFill>
                  <a:srgbClr val="006078"/>
                </a:solidFill>
              </a:rPr>
              <a:t>Final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CB7CE2-1D4E-8F2D-BA92-4B45B1CF1D8C}"/>
              </a:ext>
            </a:extLst>
          </p:cNvPr>
          <p:cNvSpPr txBox="1"/>
          <p:nvPr/>
        </p:nvSpPr>
        <p:spPr>
          <a:xfrm>
            <a:off x="508000" y="889000"/>
            <a:ext cx="11176000" cy="4247317"/>
          </a:xfrm>
          <a:prstGeom prst="rect">
            <a:avLst/>
          </a:prstGeom>
          <a:noFill/>
        </p:spPr>
        <p:txBody>
          <a:bodyPr vert="horz" wrap="square" lIns="127000" rIns="127000" rtlCol="0">
            <a:noAutofit/>
          </a:bodyPr>
          <a:lstStyle/>
          <a:p>
            <a:pPr indent="-285750">
              <a:buChar char="•"/>
            </a:pPr>
            <a:r>
              <a:rPr lang="en-US" sz="1500"/>
              <a:t>For most projects: ONE multi-model tool is sufficient
Cursor or Windsurf: Compare Claude/GPT-4/o1 within tool
Use 1M context for large codebases
Switch models by task:
  Claude for refactoring
  o1 for complex logic
  GPT-4 for speed
Add tools ONLY for unique features:
  Windsurf (Cascade planning)
  Copilot (Azure/GitHub integration)
  Cline (air-gapped environments)
  Claude Code (best documentation)
Start simple with one multi-model tool, scale up as needed</a:t>
            </a:r>
          </a:p>
        </p:txBody>
      </p:sp>
    </p:spTree>
    <p:extLst>
      <p:ext uri="{BB962C8B-B14F-4D97-AF65-F5344CB8AC3E}">
        <p14:creationId xmlns:p14="http://schemas.microsoft.com/office/powerpoint/2010/main" val="182714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2531</Words>
  <Application>Microsoft Office PowerPoint</Application>
  <PresentationFormat>Custom</PresentationFormat>
  <Paragraphs>802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Booz Allen Hamilton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Vanniamparampil, Sangeetha [USA]</dc:creator>
  <cp:lastModifiedBy>Vanniamparampil, Sangeetha [USA]</cp:lastModifiedBy>
  <cp:revision>1</cp:revision>
  <dcterms:created xsi:type="dcterms:W3CDTF">2025-11-25T14:30:53Z</dcterms:created>
  <dcterms:modified xsi:type="dcterms:W3CDTF">2025-11-25T14:30:53Z</dcterms:modified>
</cp:coreProperties>
</file>