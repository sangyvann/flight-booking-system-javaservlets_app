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7657F-37D3-2A68-09B2-273F8BC4BB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1A0EF0E-B849-B659-D0BE-DF50A83AC7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680E4C3-5A1E-9008-D48F-DDEF0DBC9B28}"/>
              </a:ext>
            </a:extLst>
          </p:cNvPr>
          <p:cNvSpPr>
            <a:spLocks noGrp="1"/>
          </p:cNvSpPr>
          <p:nvPr>
            <p:ph type="dt" sz="half" idx="10"/>
          </p:nvPr>
        </p:nvSpPr>
        <p:spPr/>
        <p:txBody>
          <a:bodyPr/>
          <a:lstStyle/>
          <a:p>
            <a:fld id="{9B9341DB-26ED-4FD3-88E2-6E56573F9A5F}" type="datetimeFigureOut">
              <a:rPr lang="en-US" smtClean="0"/>
              <a:t>11/25/2025</a:t>
            </a:fld>
            <a:endParaRPr lang="en-US"/>
          </a:p>
        </p:txBody>
      </p:sp>
      <p:sp>
        <p:nvSpPr>
          <p:cNvPr id="5" name="Footer Placeholder 4">
            <a:extLst>
              <a:ext uri="{FF2B5EF4-FFF2-40B4-BE49-F238E27FC236}">
                <a16:creationId xmlns:a16="http://schemas.microsoft.com/office/drawing/2014/main" id="{462BE31F-87C0-48EF-E1E8-BBD4AA3BD5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34EF04-3ED9-C24E-389C-CF5DFFD79359}"/>
              </a:ext>
            </a:extLst>
          </p:cNvPr>
          <p:cNvSpPr>
            <a:spLocks noGrp="1"/>
          </p:cNvSpPr>
          <p:nvPr>
            <p:ph type="sldNum" sz="quarter" idx="12"/>
          </p:nvPr>
        </p:nvSpPr>
        <p:spPr/>
        <p:txBody>
          <a:bodyPr/>
          <a:lstStyle/>
          <a:p>
            <a:fld id="{31264FE4-C6F8-4F2F-8C05-225013F64466}" type="slidenum">
              <a:rPr lang="en-US" smtClean="0"/>
              <a:t>‹#›</a:t>
            </a:fld>
            <a:endParaRPr lang="en-US"/>
          </a:p>
        </p:txBody>
      </p:sp>
    </p:spTree>
    <p:extLst>
      <p:ext uri="{BB962C8B-B14F-4D97-AF65-F5344CB8AC3E}">
        <p14:creationId xmlns:p14="http://schemas.microsoft.com/office/powerpoint/2010/main" val="1517531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8346F-ED4E-F5A1-27EC-24D7A78F49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E9B329-ACFC-023D-0339-43A8EE9B42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F68B28-A460-1E82-8654-1FFB5B2F0FDE}"/>
              </a:ext>
            </a:extLst>
          </p:cNvPr>
          <p:cNvSpPr>
            <a:spLocks noGrp="1"/>
          </p:cNvSpPr>
          <p:nvPr>
            <p:ph type="dt" sz="half" idx="10"/>
          </p:nvPr>
        </p:nvSpPr>
        <p:spPr/>
        <p:txBody>
          <a:bodyPr/>
          <a:lstStyle/>
          <a:p>
            <a:fld id="{9B9341DB-26ED-4FD3-88E2-6E56573F9A5F}" type="datetimeFigureOut">
              <a:rPr lang="en-US" smtClean="0"/>
              <a:t>11/25/2025</a:t>
            </a:fld>
            <a:endParaRPr lang="en-US"/>
          </a:p>
        </p:txBody>
      </p:sp>
      <p:sp>
        <p:nvSpPr>
          <p:cNvPr id="5" name="Footer Placeholder 4">
            <a:extLst>
              <a:ext uri="{FF2B5EF4-FFF2-40B4-BE49-F238E27FC236}">
                <a16:creationId xmlns:a16="http://schemas.microsoft.com/office/drawing/2014/main" id="{2CF3B793-8305-6640-ABB0-4F09D5BA96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8F5597-8305-B150-2424-B31B22754627}"/>
              </a:ext>
            </a:extLst>
          </p:cNvPr>
          <p:cNvSpPr>
            <a:spLocks noGrp="1"/>
          </p:cNvSpPr>
          <p:nvPr>
            <p:ph type="sldNum" sz="quarter" idx="12"/>
          </p:nvPr>
        </p:nvSpPr>
        <p:spPr/>
        <p:txBody>
          <a:bodyPr/>
          <a:lstStyle/>
          <a:p>
            <a:fld id="{31264FE4-C6F8-4F2F-8C05-225013F64466}" type="slidenum">
              <a:rPr lang="en-US" smtClean="0"/>
              <a:t>‹#›</a:t>
            </a:fld>
            <a:endParaRPr lang="en-US"/>
          </a:p>
        </p:txBody>
      </p:sp>
    </p:spTree>
    <p:extLst>
      <p:ext uri="{BB962C8B-B14F-4D97-AF65-F5344CB8AC3E}">
        <p14:creationId xmlns:p14="http://schemas.microsoft.com/office/powerpoint/2010/main" val="939634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F1377-4AA3-1A29-CF21-3924781567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78062D-267D-8987-184B-5CD5DFC806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05F0D-C28D-56F9-004A-8DE889F7E8E2}"/>
              </a:ext>
            </a:extLst>
          </p:cNvPr>
          <p:cNvSpPr>
            <a:spLocks noGrp="1"/>
          </p:cNvSpPr>
          <p:nvPr>
            <p:ph type="dt" sz="half" idx="10"/>
          </p:nvPr>
        </p:nvSpPr>
        <p:spPr/>
        <p:txBody>
          <a:bodyPr/>
          <a:lstStyle/>
          <a:p>
            <a:fld id="{9B9341DB-26ED-4FD3-88E2-6E56573F9A5F}" type="datetimeFigureOut">
              <a:rPr lang="en-US" smtClean="0"/>
              <a:t>11/25/2025</a:t>
            </a:fld>
            <a:endParaRPr lang="en-US"/>
          </a:p>
        </p:txBody>
      </p:sp>
      <p:sp>
        <p:nvSpPr>
          <p:cNvPr id="5" name="Footer Placeholder 4">
            <a:extLst>
              <a:ext uri="{FF2B5EF4-FFF2-40B4-BE49-F238E27FC236}">
                <a16:creationId xmlns:a16="http://schemas.microsoft.com/office/drawing/2014/main" id="{EF6F0371-5620-E8A9-696A-427F263692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EA503F-11F6-302F-7719-22C3D74FB45A}"/>
              </a:ext>
            </a:extLst>
          </p:cNvPr>
          <p:cNvSpPr>
            <a:spLocks noGrp="1"/>
          </p:cNvSpPr>
          <p:nvPr>
            <p:ph type="sldNum" sz="quarter" idx="12"/>
          </p:nvPr>
        </p:nvSpPr>
        <p:spPr/>
        <p:txBody>
          <a:bodyPr/>
          <a:lstStyle/>
          <a:p>
            <a:fld id="{31264FE4-C6F8-4F2F-8C05-225013F64466}" type="slidenum">
              <a:rPr lang="en-US" smtClean="0"/>
              <a:t>‹#›</a:t>
            </a:fld>
            <a:endParaRPr lang="en-US"/>
          </a:p>
        </p:txBody>
      </p:sp>
    </p:spTree>
    <p:extLst>
      <p:ext uri="{BB962C8B-B14F-4D97-AF65-F5344CB8AC3E}">
        <p14:creationId xmlns:p14="http://schemas.microsoft.com/office/powerpoint/2010/main" val="4350038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5C107-4FA1-ECA8-BC97-594736E2BA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F50F6F-3AAD-71CF-88A3-0B3A3CE1B32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2BC9C62-630D-DD59-F658-95311F5478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DF2945B-73DC-D04E-C678-43B5DAA1A45D}"/>
              </a:ext>
            </a:extLst>
          </p:cNvPr>
          <p:cNvSpPr>
            <a:spLocks noGrp="1"/>
          </p:cNvSpPr>
          <p:nvPr>
            <p:ph type="dt" sz="half" idx="10"/>
          </p:nvPr>
        </p:nvSpPr>
        <p:spPr/>
        <p:txBody>
          <a:bodyPr/>
          <a:lstStyle/>
          <a:p>
            <a:fld id="{9B9341DB-26ED-4FD3-88E2-6E56573F9A5F}" type="datetimeFigureOut">
              <a:rPr lang="en-US" smtClean="0"/>
              <a:t>11/25/2025</a:t>
            </a:fld>
            <a:endParaRPr lang="en-US"/>
          </a:p>
        </p:txBody>
      </p:sp>
      <p:sp>
        <p:nvSpPr>
          <p:cNvPr id="6" name="Footer Placeholder 5">
            <a:extLst>
              <a:ext uri="{FF2B5EF4-FFF2-40B4-BE49-F238E27FC236}">
                <a16:creationId xmlns:a16="http://schemas.microsoft.com/office/drawing/2014/main" id="{460C7745-EB06-0955-E7E9-46B546434D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162CE7-54DA-9B48-961D-E876605FE8CA}"/>
              </a:ext>
            </a:extLst>
          </p:cNvPr>
          <p:cNvSpPr>
            <a:spLocks noGrp="1"/>
          </p:cNvSpPr>
          <p:nvPr>
            <p:ph type="sldNum" sz="quarter" idx="12"/>
          </p:nvPr>
        </p:nvSpPr>
        <p:spPr/>
        <p:txBody>
          <a:bodyPr/>
          <a:lstStyle/>
          <a:p>
            <a:fld id="{31264FE4-C6F8-4F2F-8C05-225013F64466}" type="slidenum">
              <a:rPr lang="en-US" smtClean="0"/>
              <a:t>‹#›</a:t>
            </a:fld>
            <a:endParaRPr lang="en-US"/>
          </a:p>
        </p:txBody>
      </p:sp>
    </p:spTree>
    <p:extLst>
      <p:ext uri="{BB962C8B-B14F-4D97-AF65-F5344CB8AC3E}">
        <p14:creationId xmlns:p14="http://schemas.microsoft.com/office/powerpoint/2010/main" val="2773616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585AC-8E87-8F72-0D81-DA0EA03814A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BB1E4D8-23EA-F84D-9161-F55EC1142F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235CAC6-AF65-F5D0-D550-18A4AF7945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D4518CF-3D11-B137-C84C-A1ACD75C0A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4DBCAB-2107-F2D6-AC1C-723CAA48D1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3BC0F99-9EA9-BF83-0AB5-387D292FB579}"/>
              </a:ext>
            </a:extLst>
          </p:cNvPr>
          <p:cNvSpPr>
            <a:spLocks noGrp="1"/>
          </p:cNvSpPr>
          <p:nvPr>
            <p:ph type="dt" sz="half" idx="10"/>
          </p:nvPr>
        </p:nvSpPr>
        <p:spPr/>
        <p:txBody>
          <a:bodyPr/>
          <a:lstStyle/>
          <a:p>
            <a:fld id="{9B9341DB-26ED-4FD3-88E2-6E56573F9A5F}" type="datetimeFigureOut">
              <a:rPr lang="en-US" smtClean="0"/>
              <a:t>11/25/2025</a:t>
            </a:fld>
            <a:endParaRPr lang="en-US"/>
          </a:p>
        </p:txBody>
      </p:sp>
      <p:sp>
        <p:nvSpPr>
          <p:cNvPr id="8" name="Footer Placeholder 7">
            <a:extLst>
              <a:ext uri="{FF2B5EF4-FFF2-40B4-BE49-F238E27FC236}">
                <a16:creationId xmlns:a16="http://schemas.microsoft.com/office/drawing/2014/main" id="{24535C46-9095-F04A-B2C3-58D43AA9954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12AF730-D62D-90BD-16D4-FBD7D8C4FAAD}"/>
              </a:ext>
            </a:extLst>
          </p:cNvPr>
          <p:cNvSpPr>
            <a:spLocks noGrp="1"/>
          </p:cNvSpPr>
          <p:nvPr>
            <p:ph type="sldNum" sz="quarter" idx="12"/>
          </p:nvPr>
        </p:nvSpPr>
        <p:spPr/>
        <p:txBody>
          <a:bodyPr/>
          <a:lstStyle/>
          <a:p>
            <a:fld id="{31264FE4-C6F8-4F2F-8C05-225013F64466}" type="slidenum">
              <a:rPr lang="en-US" smtClean="0"/>
              <a:t>‹#›</a:t>
            </a:fld>
            <a:endParaRPr lang="en-US"/>
          </a:p>
        </p:txBody>
      </p:sp>
    </p:spTree>
    <p:extLst>
      <p:ext uri="{BB962C8B-B14F-4D97-AF65-F5344CB8AC3E}">
        <p14:creationId xmlns:p14="http://schemas.microsoft.com/office/powerpoint/2010/main" val="5249632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B1B9C-0FB6-F716-2A1C-C5214EF48F7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640B5AD-E6E3-BD6D-DFC3-320C31EC2E0B}"/>
              </a:ext>
            </a:extLst>
          </p:cNvPr>
          <p:cNvSpPr>
            <a:spLocks noGrp="1"/>
          </p:cNvSpPr>
          <p:nvPr>
            <p:ph type="dt" sz="half" idx="10"/>
          </p:nvPr>
        </p:nvSpPr>
        <p:spPr/>
        <p:txBody>
          <a:bodyPr/>
          <a:lstStyle/>
          <a:p>
            <a:fld id="{9B9341DB-26ED-4FD3-88E2-6E56573F9A5F}" type="datetimeFigureOut">
              <a:rPr lang="en-US" smtClean="0"/>
              <a:t>11/25/2025</a:t>
            </a:fld>
            <a:endParaRPr lang="en-US"/>
          </a:p>
        </p:txBody>
      </p:sp>
      <p:sp>
        <p:nvSpPr>
          <p:cNvPr id="4" name="Footer Placeholder 3">
            <a:extLst>
              <a:ext uri="{FF2B5EF4-FFF2-40B4-BE49-F238E27FC236}">
                <a16:creationId xmlns:a16="http://schemas.microsoft.com/office/drawing/2014/main" id="{4B609466-99C7-9F10-6502-B12EDB7154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8F286FB-3E29-5F60-C9E3-EEFD7EC11045}"/>
              </a:ext>
            </a:extLst>
          </p:cNvPr>
          <p:cNvSpPr>
            <a:spLocks noGrp="1"/>
          </p:cNvSpPr>
          <p:nvPr>
            <p:ph type="sldNum" sz="quarter" idx="12"/>
          </p:nvPr>
        </p:nvSpPr>
        <p:spPr/>
        <p:txBody>
          <a:bodyPr/>
          <a:lstStyle/>
          <a:p>
            <a:fld id="{31264FE4-C6F8-4F2F-8C05-225013F64466}" type="slidenum">
              <a:rPr lang="en-US" smtClean="0"/>
              <a:t>‹#›</a:t>
            </a:fld>
            <a:endParaRPr lang="en-US"/>
          </a:p>
        </p:txBody>
      </p:sp>
    </p:spTree>
    <p:extLst>
      <p:ext uri="{BB962C8B-B14F-4D97-AF65-F5344CB8AC3E}">
        <p14:creationId xmlns:p14="http://schemas.microsoft.com/office/powerpoint/2010/main" val="3102854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96ADC6-4E36-B684-CA21-361532D9E074}"/>
              </a:ext>
            </a:extLst>
          </p:cNvPr>
          <p:cNvSpPr>
            <a:spLocks noGrp="1"/>
          </p:cNvSpPr>
          <p:nvPr>
            <p:ph type="dt" sz="half" idx="10"/>
          </p:nvPr>
        </p:nvSpPr>
        <p:spPr/>
        <p:txBody>
          <a:bodyPr/>
          <a:lstStyle/>
          <a:p>
            <a:fld id="{9B9341DB-26ED-4FD3-88E2-6E56573F9A5F}" type="datetimeFigureOut">
              <a:rPr lang="en-US" smtClean="0"/>
              <a:t>11/25/2025</a:t>
            </a:fld>
            <a:endParaRPr lang="en-US"/>
          </a:p>
        </p:txBody>
      </p:sp>
      <p:sp>
        <p:nvSpPr>
          <p:cNvPr id="3" name="Footer Placeholder 2">
            <a:extLst>
              <a:ext uri="{FF2B5EF4-FFF2-40B4-BE49-F238E27FC236}">
                <a16:creationId xmlns:a16="http://schemas.microsoft.com/office/drawing/2014/main" id="{C4FC6A9E-B86D-3521-7AF1-7290DA627A5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8725B73-BA7A-64E0-A4F3-808B5714AD15}"/>
              </a:ext>
            </a:extLst>
          </p:cNvPr>
          <p:cNvSpPr>
            <a:spLocks noGrp="1"/>
          </p:cNvSpPr>
          <p:nvPr>
            <p:ph type="sldNum" sz="quarter" idx="12"/>
          </p:nvPr>
        </p:nvSpPr>
        <p:spPr/>
        <p:txBody>
          <a:bodyPr/>
          <a:lstStyle/>
          <a:p>
            <a:fld id="{31264FE4-C6F8-4F2F-8C05-225013F64466}" type="slidenum">
              <a:rPr lang="en-US" smtClean="0"/>
              <a:t>‹#›</a:t>
            </a:fld>
            <a:endParaRPr lang="en-US"/>
          </a:p>
        </p:txBody>
      </p:sp>
    </p:spTree>
    <p:extLst>
      <p:ext uri="{BB962C8B-B14F-4D97-AF65-F5344CB8AC3E}">
        <p14:creationId xmlns:p14="http://schemas.microsoft.com/office/powerpoint/2010/main" val="1831978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0E815-2F38-1619-76CA-70BB194F20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31B1E3-BA93-F469-E653-9A075C6F46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34B277-C29C-1416-CCEA-7BAF6C6691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EA0E2D-CE0E-03A7-ACDE-3BDCB88B8F67}"/>
              </a:ext>
            </a:extLst>
          </p:cNvPr>
          <p:cNvSpPr>
            <a:spLocks noGrp="1"/>
          </p:cNvSpPr>
          <p:nvPr>
            <p:ph type="dt" sz="half" idx="10"/>
          </p:nvPr>
        </p:nvSpPr>
        <p:spPr/>
        <p:txBody>
          <a:bodyPr/>
          <a:lstStyle/>
          <a:p>
            <a:fld id="{9B9341DB-26ED-4FD3-88E2-6E56573F9A5F}" type="datetimeFigureOut">
              <a:rPr lang="en-US" smtClean="0"/>
              <a:t>11/25/2025</a:t>
            </a:fld>
            <a:endParaRPr lang="en-US"/>
          </a:p>
        </p:txBody>
      </p:sp>
      <p:sp>
        <p:nvSpPr>
          <p:cNvPr id="6" name="Footer Placeholder 5">
            <a:extLst>
              <a:ext uri="{FF2B5EF4-FFF2-40B4-BE49-F238E27FC236}">
                <a16:creationId xmlns:a16="http://schemas.microsoft.com/office/drawing/2014/main" id="{3BF173BC-8B67-7746-550F-DACA8C5490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8E827D-5CF3-D605-B5BF-851D971D5CE8}"/>
              </a:ext>
            </a:extLst>
          </p:cNvPr>
          <p:cNvSpPr>
            <a:spLocks noGrp="1"/>
          </p:cNvSpPr>
          <p:nvPr>
            <p:ph type="sldNum" sz="quarter" idx="12"/>
          </p:nvPr>
        </p:nvSpPr>
        <p:spPr/>
        <p:txBody>
          <a:bodyPr/>
          <a:lstStyle/>
          <a:p>
            <a:fld id="{31264FE4-C6F8-4F2F-8C05-225013F64466}" type="slidenum">
              <a:rPr lang="en-US" smtClean="0"/>
              <a:t>‹#›</a:t>
            </a:fld>
            <a:endParaRPr lang="en-US"/>
          </a:p>
        </p:txBody>
      </p:sp>
    </p:spTree>
    <p:extLst>
      <p:ext uri="{BB962C8B-B14F-4D97-AF65-F5344CB8AC3E}">
        <p14:creationId xmlns:p14="http://schemas.microsoft.com/office/powerpoint/2010/main" val="3877518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BF817-73CC-EF5E-7D96-299D8B21A4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7F4A8F4-C6B1-E803-DFCB-30E71245C4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07C6347-A115-3B5B-E36C-12F83E5613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457E56-679C-5199-F6AA-FD3B3FAA633C}"/>
              </a:ext>
            </a:extLst>
          </p:cNvPr>
          <p:cNvSpPr>
            <a:spLocks noGrp="1"/>
          </p:cNvSpPr>
          <p:nvPr>
            <p:ph type="dt" sz="half" idx="10"/>
          </p:nvPr>
        </p:nvSpPr>
        <p:spPr/>
        <p:txBody>
          <a:bodyPr/>
          <a:lstStyle/>
          <a:p>
            <a:fld id="{9B9341DB-26ED-4FD3-88E2-6E56573F9A5F}" type="datetimeFigureOut">
              <a:rPr lang="en-US" smtClean="0"/>
              <a:t>11/25/2025</a:t>
            </a:fld>
            <a:endParaRPr lang="en-US"/>
          </a:p>
        </p:txBody>
      </p:sp>
      <p:sp>
        <p:nvSpPr>
          <p:cNvPr id="6" name="Footer Placeholder 5">
            <a:extLst>
              <a:ext uri="{FF2B5EF4-FFF2-40B4-BE49-F238E27FC236}">
                <a16:creationId xmlns:a16="http://schemas.microsoft.com/office/drawing/2014/main" id="{DF720685-8FE3-CBF2-A6D0-110525746B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EE9527-0E42-696D-B67C-022A7A91EF09}"/>
              </a:ext>
            </a:extLst>
          </p:cNvPr>
          <p:cNvSpPr>
            <a:spLocks noGrp="1"/>
          </p:cNvSpPr>
          <p:nvPr>
            <p:ph type="sldNum" sz="quarter" idx="12"/>
          </p:nvPr>
        </p:nvSpPr>
        <p:spPr/>
        <p:txBody>
          <a:bodyPr/>
          <a:lstStyle/>
          <a:p>
            <a:fld id="{31264FE4-C6F8-4F2F-8C05-225013F64466}" type="slidenum">
              <a:rPr lang="en-US" smtClean="0"/>
              <a:t>‹#›</a:t>
            </a:fld>
            <a:endParaRPr lang="en-US"/>
          </a:p>
        </p:txBody>
      </p:sp>
    </p:spTree>
    <p:extLst>
      <p:ext uri="{BB962C8B-B14F-4D97-AF65-F5344CB8AC3E}">
        <p14:creationId xmlns:p14="http://schemas.microsoft.com/office/powerpoint/2010/main" val="2880714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1816F-CE46-C319-00C6-F32B4931A63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E4FF19-2364-AC51-20B6-0FE55F3C97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70FA2F-23FF-866E-DB87-F31A4EC86ABC}"/>
              </a:ext>
            </a:extLst>
          </p:cNvPr>
          <p:cNvSpPr>
            <a:spLocks noGrp="1"/>
          </p:cNvSpPr>
          <p:nvPr>
            <p:ph type="dt" sz="half" idx="10"/>
          </p:nvPr>
        </p:nvSpPr>
        <p:spPr/>
        <p:txBody>
          <a:bodyPr/>
          <a:lstStyle/>
          <a:p>
            <a:fld id="{9B9341DB-26ED-4FD3-88E2-6E56573F9A5F}" type="datetimeFigureOut">
              <a:rPr lang="en-US" smtClean="0"/>
              <a:t>11/25/2025</a:t>
            </a:fld>
            <a:endParaRPr lang="en-US"/>
          </a:p>
        </p:txBody>
      </p:sp>
      <p:sp>
        <p:nvSpPr>
          <p:cNvPr id="5" name="Footer Placeholder 4">
            <a:extLst>
              <a:ext uri="{FF2B5EF4-FFF2-40B4-BE49-F238E27FC236}">
                <a16:creationId xmlns:a16="http://schemas.microsoft.com/office/drawing/2014/main" id="{49F3DAAB-9604-C586-E237-153989B0BA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B73015-8D11-07A4-9562-441267B779D9}"/>
              </a:ext>
            </a:extLst>
          </p:cNvPr>
          <p:cNvSpPr>
            <a:spLocks noGrp="1"/>
          </p:cNvSpPr>
          <p:nvPr>
            <p:ph type="sldNum" sz="quarter" idx="12"/>
          </p:nvPr>
        </p:nvSpPr>
        <p:spPr/>
        <p:txBody>
          <a:bodyPr/>
          <a:lstStyle/>
          <a:p>
            <a:fld id="{31264FE4-C6F8-4F2F-8C05-225013F64466}" type="slidenum">
              <a:rPr lang="en-US" smtClean="0"/>
              <a:t>‹#›</a:t>
            </a:fld>
            <a:endParaRPr lang="en-US"/>
          </a:p>
        </p:txBody>
      </p:sp>
    </p:spTree>
    <p:extLst>
      <p:ext uri="{BB962C8B-B14F-4D97-AF65-F5344CB8AC3E}">
        <p14:creationId xmlns:p14="http://schemas.microsoft.com/office/powerpoint/2010/main" val="993473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858DF9-BBCF-B766-2770-510856859E2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FA7A22-A2A3-3985-5DA0-F8E1456D99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011B1E-F6AA-1A7F-82C5-65CCE0061715}"/>
              </a:ext>
            </a:extLst>
          </p:cNvPr>
          <p:cNvSpPr>
            <a:spLocks noGrp="1"/>
          </p:cNvSpPr>
          <p:nvPr>
            <p:ph type="dt" sz="half" idx="10"/>
          </p:nvPr>
        </p:nvSpPr>
        <p:spPr/>
        <p:txBody>
          <a:bodyPr/>
          <a:lstStyle/>
          <a:p>
            <a:fld id="{9B9341DB-26ED-4FD3-88E2-6E56573F9A5F}" type="datetimeFigureOut">
              <a:rPr lang="en-US" smtClean="0"/>
              <a:t>11/25/2025</a:t>
            </a:fld>
            <a:endParaRPr lang="en-US"/>
          </a:p>
        </p:txBody>
      </p:sp>
      <p:sp>
        <p:nvSpPr>
          <p:cNvPr id="5" name="Footer Placeholder 4">
            <a:extLst>
              <a:ext uri="{FF2B5EF4-FFF2-40B4-BE49-F238E27FC236}">
                <a16:creationId xmlns:a16="http://schemas.microsoft.com/office/drawing/2014/main" id="{BFF8866E-FDBB-EDF8-B24F-11A28E4E31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AC4339-6C09-1C20-EA7A-6C246A9515C1}"/>
              </a:ext>
            </a:extLst>
          </p:cNvPr>
          <p:cNvSpPr>
            <a:spLocks noGrp="1"/>
          </p:cNvSpPr>
          <p:nvPr>
            <p:ph type="sldNum" sz="quarter" idx="12"/>
          </p:nvPr>
        </p:nvSpPr>
        <p:spPr/>
        <p:txBody>
          <a:bodyPr/>
          <a:lstStyle/>
          <a:p>
            <a:fld id="{31264FE4-C6F8-4F2F-8C05-225013F64466}" type="slidenum">
              <a:rPr lang="en-US" smtClean="0"/>
              <a:t>‹#›</a:t>
            </a:fld>
            <a:endParaRPr lang="en-US"/>
          </a:p>
        </p:txBody>
      </p:sp>
    </p:spTree>
    <p:extLst>
      <p:ext uri="{BB962C8B-B14F-4D97-AF65-F5344CB8AC3E}">
        <p14:creationId xmlns:p14="http://schemas.microsoft.com/office/powerpoint/2010/main" val="4142473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01AE59-A6C0-1A46-AEC9-68791BB9FA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6E25A4A-A0BD-A6F0-1AFC-DC2AEBA7BF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E80226-00B0-B20B-4342-ABE3B20617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B9341DB-26ED-4FD3-88E2-6E56573F9A5F}" type="datetimeFigureOut">
              <a:rPr lang="en-US" smtClean="0"/>
              <a:t>11/25/2025</a:t>
            </a:fld>
            <a:endParaRPr lang="en-US"/>
          </a:p>
        </p:txBody>
      </p:sp>
      <p:sp>
        <p:nvSpPr>
          <p:cNvPr id="5" name="Footer Placeholder 4">
            <a:extLst>
              <a:ext uri="{FF2B5EF4-FFF2-40B4-BE49-F238E27FC236}">
                <a16:creationId xmlns:a16="http://schemas.microsoft.com/office/drawing/2014/main" id="{BFF7C7DB-ECD6-5BF2-5708-65527038B6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79603C9-6491-C54A-1754-3133DDE89E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1264FE4-C6F8-4F2F-8C05-225013F64466}" type="slidenum">
              <a:rPr lang="en-US" smtClean="0"/>
              <a:t>‹#›</a:t>
            </a:fld>
            <a:endParaRPr lang="en-US"/>
          </a:p>
        </p:txBody>
      </p:sp>
    </p:spTree>
    <p:extLst>
      <p:ext uri="{BB962C8B-B14F-4D97-AF65-F5344CB8AC3E}">
        <p14:creationId xmlns:p14="http://schemas.microsoft.com/office/powerpoint/2010/main" val="34884693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4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F53B6A-903A-61B9-E19F-2C8595A16180}"/>
              </a:ext>
            </a:extLst>
          </p:cNvPr>
          <p:cNvSpPr txBox="1"/>
          <p:nvPr/>
        </p:nvSpPr>
        <p:spPr>
          <a:xfrm>
            <a:off x="635000" y="1524000"/>
            <a:ext cx="10922000" cy="923330"/>
          </a:xfrm>
          <a:prstGeom prst="rect">
            <a:avLst/>
          </a:prstGeom>
          <a:noFill/>
        </p:spPr>
        <p:txBody>
          <a:bodyPr vert="horz" wrap="square" lIns="127000" rIns="127000" rtlCol="0">
            <a:noAutofit/>
          </a:bodyPr>
          <a:lstStyle/>
          <a:p>
            <a:pPr algn="ctr"/>
            <a:r>
              <a:rPr lang="en-US" sz="5400" b="1">
                <a:solidFill>
                  <a:srgbClr val="FFFFFF"/>
                </a:solidFill>
              </a:rPr>
              <a:t>AI Coding Assistants</a:t>
            </a:r>
          </a:p>
        </p:txBody>
      </p:sp>
      <p:sp>
        <p:nvSpPr>
          <p:cNvPr id="3" name="TextBox 2">
            <a:extLst>
              <a:ext uri="{FF2B5EF4-FFF2-40B4-BE49-F238E27FC236}">
                <a16:creationId xmlns:a16="http://schemas.microsoft.com/office/drawing/2014/main" id="{C1C539E2-EBD8-7914-0AC3-8B0DB7D3B29E}"/>
              </a:ext>
            </a:extLst>
          </p:cNvPr>
          <p:cNvSpPr txBox="1"/>
          <p:nvPr/>
        </p:nvSpPr>
        <p:spPr>
          <a:xfrm>
            <a:off x="635000" y="3175000"/>
            <a:ext cx="10922000" cy="584775"/>
          </a:xfrm>
          <a:prstGeom prst="rect">
            <a:avLst/>
          </a:prstGeom>
          <a:noFill/>
        </p:spPr>
        <p:txBody>
          <a:bodyPr vert="horz" wrap="square" lIns="127000" rIns="127000" rtlCol="0">
            <a:noAutofit/>
          </a:bodyPr>
          <a:lstStyle/>
          <a:p>
            <a:pPr algn="ctr"/>
            <a:r>
              <a:rPr lang="en-US" sz="3200">
                <a:solidFill>
                  <a:srgbClr val="FFCC00"/>
                </a:solidFill>
              </a:rPr>
              <a:t>Executive Brief: Legacy Application Modernization</a:t>
            </a:r>
          </a:p>
        </p:txBody>
      </p:sp>
      <p:sp>
        <p:nvSpPr>
          <p:cNvPr id="4" name="TextBox 3">
            <a:extLst>
              <a:ext uri="{FF2B5EF4-FFF2-40B4-BE49-F238E27FC236}">
                <a16:creationId xmlns:a16="http://schemas.microsoft.com/office/drawing/2014/main" id="{A2543AFE-89CB-DBD4-A2CD-3E3081517A9B}"/>
              </a:ext>
            </a:extLst>
          </p:cNvPr>
          <p:cNvSpPr txBox="1"/>
          <p:nvPr/>
        </p:nvSpPr>
        <p:spPr>
          <a:xfrm>
            <a:off x="635000" y="4699000"/>
            <a:ext cx="10922000" cy="400110"/>
          </a:xfrm>
          <a:prstGeom prst="rect">
            <a:avLst/>
          </a:prstGeom>
          <a:noFill/>
        </p:spPr>
        <p:txBody>
          <a:bodyPr vert="horz" wrap="square" lIns="127000" rIns="127000" rtlCol="0">
            <a:noAutofit/>
          </a:bodyPr>
          <a:lstStyle/>
          <a:p>
            <a:pPr algn="ctr"/>
            <a:r>
              <a:rPr lang="en-US" sz="2000">
                <a:solidFill>
                  <a:srgbClr val="FFFFFF"/>
                </a:solidFill>
              </a:rPr>
              <a:t>Strategic Technology Assessment</a:t>
            </a:r>
          </a:p>
        </p:txBody>
      </p:sp>
    </p:spTree>
    <p:extLst>
      <p:ext uri="{BB962C8B-B14F-4D97-AF65-F5344CB8AC3E}">
        <p14:creationId xmlns:p14="http://schemas.microsoft.com/office/powerpoint/2010/main" val="1194832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9E5ACE0-DFE0-2E5F-A291-2C69AC452883}"/>
              </a:ext>
            </a:extLst>
          </p:cNvPr>
          <p:cNvSpPr txBox="1"/>
          <p:nvPr/>
        </p:nvSpPr>
        <p:spPr>
          <a:xfrm>
            <a:off x="508000" y="190500"/>
            <a:ext cx="11176000" cy="646331"/>
          </a:xfrm>
          <a:prstGeom prst="rect">
            <a:avLst/>
          </a:prstGeom>
          <a:noFill/>
        </p:spPr>
        <p:txBody>
          <a:bodyPr vert="horz" wrap="square" lIns="127000" rIns="127000" rtlCol="0">
            <a:noAutofit/>
          </a:bodyPr>
          <a:lstStyle/>
          <a:p>
            <a:r>
              <a:rPr lang="en-US" sz="3600" b="1">
                <a:solidFill>
                  <a:srgbClr val="000080"/>
                </a:solidFill>
              </a:rPr>
              <a:t>Executive Summary</a:t>
            </a:r>
          </a:p>
        </p:txBody>
      </p:sp>
      <p:sp>
        <p:nvSpPr>
          <p:cNvPr id="3" name="TextBox 2">
            <a:extLst>
              <a:ext uri="{FF2B5EF4-FFF2-40B4-BE49-F238E27FC236}">
                <a16:creationId xmlns:a16="http://schemas.microsoft.com/office/drawing/2014/main" id="{1141F5C5-B9B4-04EB-65E4-F862CDAFC360}"/>
              </a:ext>
            </a:extLst>
          </p:cNvPr>
          <p:cNvSpPr txBox="1"/>
          <p:nvPr/>
        </p:nvSpPr>
        <p:spPr>
          <a:xfrm>
            <a:off x="508000" y="889000"/>
            <a:ext cx="11176000" cy="3785652"/>
          </a:xfrm>
          <a:prstGeom prst="rect">
            <a:avLst/>
          </a:prstGeom>
          <a:noFill/>
        </p:spPr>
        <p:txBody>
          <a:bodyPr vert="horz" wrap="square" lIns="127000" rIns="127000" rtlCol="0">
            <a:noAutofit/>
          </a:bodyPr>
          <a:lstStyle/>
          <a:p>
            <a:pPr indent="-285750">
              <a:buChar char="•"/>
            </a:pPr>
            <a:r>
              <a:rPr lang="en-US" sz="1600"/>
              <a:t>Business Challenge:
Modernizing 500K+ LOC legacy applications is time-consuming and risky
Opportunity:
AI coding assistants can reduce modernization time by 40-67%
Key Decision:
Context capacity (200K vs 1M tokens) determines success for large apps
Recommendation:
Cursor or Windsurf IDE for large monoliths (-40/user/month)
GitHub Copilot for incremental updates (-39/user/month)
Expected ROI:
3-6 month payback period through accelerated delivery</a:t>
            </a:r>
          </a:p>
        </p:txBody>
      </p:sp>
    </p:spTree>
    <p:extLst>
      <p:ext uri="{BB962C8B-B14F-4D97-AF65-F5344CB8AC3E}">
        <p14:creationId xmlns:p14="http://schemas.microsoft.com/office/powerpoint/2010/main" val="3498205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403AAC-D3D6-3920-0157-6B445CDB083A}"/>
              </a:ext>
            </a:extLst>
          </p:cNvPr>
          <p:cNvSpPr txBox="1"/>
          <p:nvPr/>
        </p:nvSpPr>
        <p:spPr>
          <a:xfrm>
            <a:off x="508000" y="190500"/>
            <a:ext cx="11176000" cy="584775"/>
          </a:xfrm>
          <a:prstGeom prst="rect">
            <a:avLst/>
          </a:prstGeom>
          <a:noFill/>
        </p:spPr>
        <p:txBody>
          <a:bodyPr vert="horz" wrap="square" lIns="127000" rIns="127000" rtlCol="0">
            <a:noAutofit/>
          </a:bodyPr>
          <a:lstStyle/>
          <a:p>
            <a:r>
              <a:rPr lang="en-US" sz="3200" b="1">
                <a:solidFill>
                  <a:srgbClr val="000080"/>
                </a:solidFill>
              </a:rPr>
              <a:t>Business Impact: Time &amp; Cost Savings</a:t>
            </a:r>
          </a:p>
        </p:txBody>
      </p:sp>
      <p:graphicFrame>
        <p:nvGraphicFramePr>
          <p:cNvPr id="3" name="Table 2">
            <a:extLst>
              <a:ext uri="{FF2B5EF4-FFF2-40B4-BE49-F238E27FC236}">
                <a16:creationId xmlns:a16="http://schemas.microsoft.com/office/drawing/2014/main" id="{ABC9AAB2-4292-8830-63BC-4CDA067CCAF4}"/>
              </a:ext>
            </a:extLst>
          </p:cNvPr>
          <p:cNvGraphicFramePr>
            <a:graphicFrameLocks noGrp="1"/>
          </p:cNvGraphicFramePr>
          <p:nvPr>
            <p:extLst>
              <p:ext uri="{D42A27DB-BD31-4B8C-83A1-F6EECF244321}">
                <p14:modId xmlns:p14="http://schemas.microsoft.com/office/powerpoint/2010/main" val="2221973790"/>
              </p:ext>
            </p:extLst>
          </p:nvPr>
        </p:nvGraphicFramePr>
        <p:xfrm>
          <a:off x="508000" y="1016000"/>
          <a:ext cx="11176000" cy="4445000"/>
        </p:xfrm>
        <a:graphic>
          <a:graphicData uri="http://schemas.openxmlformats.org/drawingml/2006/table">
            <a:tbl>
              <a:tblPr firstRow="1" bandRow="1">
                <a:tableStyleId>{5C22544A-7EE6-4342-B048-85BDC9FD1C3A}</a:tableStyleId>
              </a:tblPr>
              <a:tblGrid>
                <a:gridCol w="2235200">
                  <a:extLst>
                    <a:ext uri="{9D8B030D-6E8A-4147-A177-3AD203B41FA5}">
                      <a16:colId xmlns:a16="http://schemas.microsoft.com/office/drawing/2014/main" val="427495496"/>
                    </a:ext>
                  </a:extLst>
                </a:gridCol>
                <a:gridCol w="2235200">
                  <a:extLst>
                    <a:ext uri="{9D8B030D-6E8A-4147-A177-3AD203B41FA5}">
                      <a16:colId xmlns:a16="http://schemas.microsoft.com/office/drawing/2014/main" val="1563569220"/>
                    </a:ext>
                  </a:extLst>
                </a:gridCol>
                <a:gridCol w="2235200">
                  <a:extLst>
                    <a:ext uri="{9D8B030D-6E8A-4147-A177-3AD203B41FA5}">
                      <a16:colId xmlns:a16="http://schemas.microsoft.com/office/drawing/2014/main" val="3312446240"/>
                    </a:ext>
                  </a:extLst>
                </a:gridCol>
                <a:gridCol w="2235200">
                  <a:extLst>
                    <a:ext uri="{9D8B030D-6E8A-4147-A177-3AD203B41FA5}">
                      <a16:colId xmlns:a16="http://schemas.microsoft.com/office/drawing/2014/main" val="4007184281"/>
                    </a:ext>
                  </a:extLst>
                </a:gridCol>
                <a:gridCol w="2235200">
                  <a:extLst>
                    <a:ext uri="{9D8B030D-6E8A-4147-A177-3AD203B41FA5}">
                      <a16:colId xmlns:a16="http://schemas.microsoft.com/office/drawing/2014/main" val="1410001420"/>
                    </a:ext>
                  </a:extLst>
                </a:gridCol>
              </a:tblGrid>
              <a:tr h="1111250">
                <a:tc>
                  <a:txBody>
                    <a:bodyPr/>
                    <a:lstStyle/>
                    <a:p>
                      <a:r>
                        <a:rPr lang="en-US" sz="1200" b="1">
                          <a:solidFill>
                            <a:srgbClr val="FFFFFF"/>
                          </a:solidFill>
                        </a:rPr>
                        <a:t>Project Size</a:t>
                      </a:r>
                    </a:p>
                  </a:txBody>
                  <a:tcPr>
                    <a:solidFill>
                      <a:srgbClr val="000080"/>
                    </a:solidFill>
                  </a:tcPr>
                </a:tc>
                <a:tc>
                  <a:txBody>
                    <a:bodyPr/>
                    <a:lstStyle/>
                    <a:p>
                      <a:r>
                        <a:rPr lang="en-US" sz="1200" b="1">
                          <a:solidFill>
                            <a:srgbClr val="FFFFFF"/>
                          </a:solidFill>
                        </a:rPr>
                        <a:t>Traditional</a:t>
                      </a:r>
                    </a:p>
                  </a:txBody>
                  <a:tcPr>
                    <a:solidFill>
                      <a:srgbClr val="000080"/>
                    </a:solidFill>
                  </a:tcPr>
                </a:tc>
                <a:tc>
                  <a:txBody>
                    <a:bodyPr/>
                    <a:lstStyle/>
                    <a:p>
                      <a:r>
                        <a:rPr lang="en-US" sz="1200" b="1">
                          <a:solidFill>
                            <a:srgbClr val="FFFFFF"/>
                          </a:solidFill>
                        </a:rPr>
                        <a:t>With AI</a:t>
                      </a:r>
                    </a:p>
                  </a:txBody>
                  <a:tcPr>
                    <a:solidFill>
                      <a:srgbClr val="000080"/>
                    </a:solidFill>
                  </a:tcPr>
                </a:tc>
                <a:tc>
                  <a:txBody>
                    <a:bodyPr/>
                    <a:lstStyle/>
                    <a:p>
                      <a:r>
                        <a:rPr lang="en-US" sz="1200" b="1">
                          <a:solidFill>
                            <a:srgbClr val="FFFFFF"/>
                          </a:solidFill>
                        </a:rPr>
                        <a:t>Time Saved</a:t>
                      </a:r>
                    </a:p>
                  </a:txBody>
                  <a:tcPr>
                    <a:solidFill>
                      <a:srgbClr val="000080"/>
                    </a:solidFill>
                  </a:tcPr>
                </a:tc>
                <a:tc>
                  <a:txBody>
                    <a:bodyPr/>
                    <a:lstStyle/>
                    <a:p>
                      <a:r>
                        <a:rPr lang="en-US" sz="1200" b="1">
                          <a:solidFill>
                            <a:srgbClr val="FFFFFF"/>
                          </a:solidFill>
                        </a:rPr>
                        <a:t>Cost Impact</a:t>
                      </a:r>
                    </a:p>
                  </a:txBody>
                  <a:tcPr>
                    <a:solidFill>
                      <a:srgbClr val="000080"/>
                    </a:solidFill>
                  </a:tcPr>
                </a:tc>
                <a:extLst>
                  <a:ext uri="{0D108BD9-81ED-4DB2-BD59-A6C34878D82A}">
                    <a16:rowId xmlns:a16="http://schemas.microsoft.com/office/drawing/2014/main" val="1123553594"/>
                  </a:ext>
                </a:extLst>
              </a:tr>
              <a:tr h="1111250">
                <a:tc>
                  <a:txBody>
                    <a:bodyPr/>
                    <a:lstStyle/>
                    <a:p>
                      <a:r>
                        <a:rPr lang="en-US" sz="1000"/>
                        <a:t>Large (&gt;300K LOC)</a:t>
                      </a:r>
                    </a:p>
                  </a:txBody>
                  <a:tcPr>
                    <a:solidFill>
                      <a:srgbClr val="F2F2F2"/>
                    </a:solidFill>
                  </a:tcPr>
                </a:tc>
                <a:tc>
                  <a:txBody>
                    <a:bodyPr/>
                    <a:lstStyle/>
                    <a:p>
                      <a:r>
                        <a:rPr lang="en-US" sz="1000"/>
                        <a:t>18 months</a:t>
                      </a:r>
                    </a:p>
                  </a:txBody>
                  <a:tcPr>
                    <a:solidFill>
                      <a:srgbClr val="F2F2F2"/>
                    </a:solidFill>
                  </a:tcPr>
                </a:tc>
                <a:tc>
                  <a:txBody>
                    <a:bodyPr/>
                    <a:lstStyle/>
                    <a:p>
                      <a:r>
                        <a:rPr lang="en-US" sz="1000"/>
                        <a:t>6-8 months</a:t>
                      </a:r>
                    </a:p>
                  </a:txBody>
                  <a:tcPr>
                    <a:solidFill>
                      <a:srgbClr val="F2F2F2"/>
                    </a:solidFill>
                  </a:tcPr>
                </a:tc>
                <a:tc>
                  <a:txBody>
                    <a:bodyPr/>
                    <a:lstStyle/>
                    <a:p>
                      <a:r>
                        <a:rPr lang="en-US" sz="1000"/>
                        <a:t>56-67%</a:t>
                      </a:r>
                    </a:p>
                  </a:txBody>
                  <a:tcPr>
                    <a:solidFill>
                      <a:srgbClr val="F2F2F2"/>
                    </a:solidFill>
                  </a:tcPr>
                </a:tc>
                <a:tc>
                  <a:txBody>
                    <a:bodyPr/>
                    <a:lstStyle/>
                    <a:p>
                      <a:r>
                        <a:rPr lang="en-US" sz="1000"/>
                        <a:t>-1.2M saved</a:t>
                      </a:r>
                    </a:p>
                  </a:txBody>
                  <a:tcPr>
                    <a:solidFill>
                      <a:srgbClr val="F2F2F2"/>
                    </a:solidFill>
                  </a:tcPr>
                </a:tc>
                <a:extLst>
                  <a:ext uri="{0D108BD9-81ED-4DB2-BD59-A6C34878D82A}">
                    <a16:rowId xmlns:a16="http://schemas.microsoft.com/office/drawing/2014/main" val="494138028"/>
                  </a:ext>
                </a:extLst>
              </a:tr>
              <a:tr h="1111250">
                <a:tc>
                  <a:txBody>
                    <a:bodyPr/>
                    <a:lstStyle/>
                    <a:p>
                      <a:r>
                        <a:rPr lang="en-US" sz="1000"/>
                        <a:t>Medium (100-300K)</a:t>
                      </a:r>
                    </a:p>
                  </a:txBody>
                  <a:tcPr/>
                </a:tc>
                <a:tc>
                  <a:txBody>
                    <a:bodyPr/>
                    <a:lstStyle/>
                    <a:p>
                      <a:r>
                        <a:rPr lang="en-US" sz="1000"/>
                        <a:t>12 months</a:t>
                      </a:r>
                    </a:p>
                  </a:txBody>
                  <a:tcPr/>
                </a:tc>
                <a:tc>
                  <a:txBody>
                    <a:bodyPr/>
                    <a:lstStyle/>
                    <a:p>
                      <a:r>
                        <a:rPr lang="en-US" sz="1000"/>
                        <a:t>6-8 months</a:t>
                      </a:r>
                    </a:p>
                  </a:txBody>
                  <a:tcPr/>
                </a:tc>
                <a:tc>
                  <a:txBody>
                    <a:bodyPr/>
                    <a:lstStyle/>
                    <a:p>
                      <a:r>
                        <a:rPr lang="en-US" sz="1000"/>
                        <a:t>33-50%</a:t>
                      </a:r>
                    </a:p>
                  </a:txBody>
                  <a:tcPr/>
                </a:tc>
                <a:tc>
                  <a:txBody>
                    <a:bodyPr/>
                    <a:lstStyle/>
                    <a:p>
                      <a:r>
                        <a:rPr lang="en-US" sz="1000"/>
                        <a:t>-600K saved</a:t>
                      </a:r>
                    </a:p>
                  </a:txBody>
                  <a:tcPr/>
                </a:tc>
                <a:extLst>
                  <a:ext uri="{0D108BD9-81ED-4DB2-BD59-A6C34878D82A}">
                    <a16:rowId xmlns:a16="http://schemas.microsoft.com/office/drawing/2014/main" val="1953918355"/>
                  </a:ext>
                </a:extLst>
              </a:tr>
              <a:tr h="1111250">
                <a:tc>
                  <a:txBody>
                    <a:bodyPr/>
                    <a:lstStyle/>
                    <a:p>
                      <a:r>
                        <a:rPr lang="en-US" sz="1000"/>
                        <a:t>Small (&lt;100K)</a:t>
                      </a:r>
                    </a:p>
                  </a:txBody>
                  <a:tcPr>
                    <a:solidFill>
                      <a:srgbClr val="F2F2F2"/>
                    </a:solidFill>
                  </a:tcPr>
                </a:tc>
                <a:tc>
                  <a:txBody>
                    <a:bodyPr/>
                    <a:lstStyle/>
                    <a:p>
                      <a:r>
                        <a:rPr lang="en-US" sz="1000"/>
                        <a:t>6 months</a:t>
                      </a:r>
                    </a:p>
                  </a:txBody>
                  <a:tcPr>
                    <a:solidFill>
                      <a:srgbClr val="F2F2F2"/>
                    </a:solidFill>
                  </a:tcPr>
                </a:tc>
                <a:tc>
                  <a:txBody>
                    <a:bodyPr/>
                    <a:lstStyle/>
                    <a:p>
                      <a:r>
                        <a:rPr lang="en-US" sz="1000"/>
                        <a:t>4-5 months</a:t>
                      </a:r>
                    </a:p>
                  </a:txBody>
                  <a:tcPr>
                    <a:solidFill>
                      <a:srgbClr val="F2F2F2"/>
                    </a:solidFill>
                  </a:tcPr>
                </a:tc>
                <a:tc>
                  <a:txBody>
                    <a:bodyPr/>
                    <a:lstStyle/>
                    <a:p>
                      <a:r>
                        <a:rPr lang="en-US" sz="1000"/>
                        <a:t>17-33%</a:t>
                      </a:r>
                    </a:p>
                  </a:txBody>
                  <a:tcPr>
                    <a:solidFill>
                      <a:srgbClr val="F2F2F2"/>
                    </a:solidFill>
                  </a:tcPr>
                </a:tc>
                <a:tc>
                  <a:txBody>
                    <a:bodyPr/>
                    <a:lstStyle/>
                    <a:p>
                      <a:r>
                        <a:rPr lang="en-US" sz="1000"/>
                        <a:t>-200K saved</a:t>
                      </a:r>
                    </a:p>
                  </a:txBody>
                  <a:tcPr>
                    <a:solidFill>
                      <a:srgbClr val="F2F2F2"/>
                    </a:solidFill>
                  </a:tcPr>
                </a:tc>
                <a:extLst>
                  <a:ext uri="{0D108BD9-81ED-4DB2-BD59-A6C34878D82A}">
                    <a16:rowId xmlns:a16="http://schemas.microsoft.com/office/drawing/2014/main" val="3787190436"/>
                  </a:ext>
                </a:extLst>
              </a:tr>
            </a:tbl>
          </a:graphicData>
        </a:graphic>
      </p:graphicFrame>
      <p:sp>
        <p:nvSpPr>
          <p:cNvPr id="4" name="TextBox 3">
            <a:extLst>
              <a:ext uri="{FF2B5EF4-FFF2-40B4-BE49-F238E27FC236}">
                <a16:creationId xmlns:a16="http://schemas.microsoft.com/office/drawing/2014/main" id="{28F8C717-6623-7AF1-43D2-ECFF6564BF85}"/>
              </a:ext>
            </a:extLst>
          </p:cNvPr>
          <p:cNvSpPr txBox="1"/>
          <p:nvPr/>
        </p:nvSpPr>
        <p:spPr>
          <a:xfrm>
            <a:off x="508000" y="5715000"/>
            <a:ext cx="11176000" cy="292388"/>
          </a:xfrm>
          <a:prstGeom prst="rect">
            <a:avLst/>
          </a:prstGeom>
          <a:noFill/>
        </p:spPr>
        <p:txBody>
          <a:bodyPr vert="horz" wrap="square" lIns="127000" rIns="127000" rtlCol="0">
            <a:noAutofit/>
          </a:bodyPr>
          <a:lstStyle/>
          <a:p>
            <a:r>
              <a:rPr lang="en-US" sz="1300">
                <a:solidFill>
                  <a:srgbClr val="000080"/>
                </a:solidFill>
              </a:rPr>
              <a:t>Based on industry benchmarks: /developer/year, 5-person team</a:t>
            </a:r>
          </a:p>
        </p:txBody>
      </p:sp>
    </p:spTree>
    <p:extLst>
      <p:ext uri="{BB962C8B-B14F-4D97-AF65-F5344CB8AC3E}">
        <p14:creationId xmlns:p14="http://schemas.microsoft.com/office/powerpoint/2010/main" val="2588332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7023E3-C00A-E8A5-ABA8-909760010A35}"/>
              </a:ext>
            </a:extLst>
          </p:cNvPr>
          <p:cNvSpPr txBox="1"/>
          <p:nvPr/>
        </p:nvSpPr>
        <p:spPr>
          <a:xfrm>
            <a:off x="508000" y="190500"/>
            <a:ext cx="11176000" cy="523220"/>
          </a:xfrm>
          <a:prstGeom prst="rect">
            <a:avLst/>
          </a:prstGeom>
          <a:noFill/>
        </p:spPr>
        <p:txBody>
          <a:bodyPr vert="horz" wrap="square" lIns="127000" rIns="127000" rtlCol="0">
            <a:noAutofit/>
          </a:bodyPr>
          <a:lstStyle/>
          <a:p>
            <a:r>
              <a:rPr lang="en-US" sz="2800" b="1">
                <a:solidFill>
                  <a:srgbClr val="000080"/>
                </a:solidFill>
              </a:rPr>
              <a:t>Critical Success Factor: Context Capacity</a:t>
            </a:r>
          </a:p>
        </p:txBody>
      </p:sp>
      <p:sp>
        <p:nvSpPr>
          <p:cNvPr id="3" name="TextBox 2">
            <a:extLst>
              <a:ext uri="{FF2B5EF4-FFF2-40B4-BE49-F238E27FC236}">
                <a16:creationId xmlns:a16="http://schemas.microsoft.com/office/drawing/2014/main" id="{2985B380-4B69-EB24-78F7-21390E78CBE4}"/>
              </a:ext>
            </a:extLst>
          </p:cNvPr>
          <p:cNvSpPr txBox="1"/>
          <p:nvPr/>
        </p:nvSpPr>
        <p:spPr>
          <a:xfrm>
            <a:off x="508000" y="1016000"/>
            <a:ext cx="5080000" cy="430887"/>
          </a:xfrm>
          <a:prstGeom prst="rect">
            <a:avLst/>
          </a:prstGeom>
          <a:noFill/>
        </p:spPr>
        <p:txBody>
          <a:bodyPr vert="horz" wrap="square" lIns="127000" rIns="127000" rtlCol="0">
            <a:noAutofit/>
          </a:bodyPr>
          <a:lstStyle/>
          <a:p>
            <a:r>
              <a:rPr lang="en-US" sz="2200" b="1">
                <a:solidFill>
                  <a:srgbClr val="000080"/>
                </a:solidFill>
              </a:rPr>
              <a:t>200K Tokens (Standard)</a:t>
            </a:r>
          </a:p>
        </p:txBody>
      </p:sp>
      <p:sp>
        <p:nvSpPr>
          <p:cNvPr id="4" name="TextBox 3">
            <a:extLst>
              <a:ext uri="{FF2B5EF4-FFF2-40B4-BE49-F238E27FC236}">
                <a16:creationId xmlns:a16="http://schemas.microsoft.com/office/drawing/2014/main" id="{12C66A4C-243A-2812-70BB-4CC9A6494701}"/>
              </a:ext>
            </a:extLst>
          </p:cNvPr>
          <p:cNvSpPr txBox="1"/>
          <p:nvPr/>
        </p:nvSpPr>
        <p:spPr>
          <a:xfrm>
            <a:off x="635000" y="1524000"/>
            <a:ext cx="4826000" cy="2031325"/>
          </a:xfrm>
          <a:prstGeom prst="rect">
            <a:avLst/>
          </a:prstGeom>
          <a:noFill/>
        </p:spPr>
        <p:txBody>
          <a:bodyPr vert="horz" wrap="square" lIns="127000" rIns="127000" rtlCol="0">
            <a:noAutofit/>
          </a:bodyPr>
          <a:lstStyle/>
          <a:p>
            <a:pPr indent="-285750">
              <a:buChar char="•"/>
            </a:pPr>
            <a:r>
              <a:rPr lang="en-US" sz="1400"/>
              <a:t>Analyzes ~10K lines at once
Requires breaking apps into modules
Risk of missing dependencies
Frequent context resets
Tools: Copilot, Claude Code, Cline</a:t>
            </a:r>
          </a:p>
        </p:txBody>
      </p:sp>
      <p:sp>
        <p:nvSpPr>
          <p:cNvPr id="5" name="TextBox 4">
            <a:extLst>
              <a:ext uri="{FF2B5EF4-FFF2-40B4-BE49-F238E27FC236}">
                <a16:creationId xmlns:a16="http://schemas.microsoft.com/office/drawing/2014/main" id="{68AF10BD-6FBD-44D0-ADDC-5058D44EE87A}"/>
              </a:ext>
            </a:extLst>
          </p:cNvPr>
          <p:cNvSpPr txBox="1"/>
          <p:nvPr/>
        </p:nvSpPr>
        <p:spPr>
          <a:xfrm>
            <a:off x="6096000" y="1016000"/>
            <a:ext cx="5080000" cy="430887"/>
          </a:xfrm>
          <a:prstGeom prst="rect">
            <a:avLst/>
          </a:prstGeom>
          <a:noFill/>
        </p:spPr>
        <p:txBody>
          <a:bodyPr vert="horz" wrap="square" lIns="127000" rIns="127000" rtlCol="0">
            <a:noAutofit/>
          </a:bodyPr>
          <a:lstStyle/>
          <a:p>
            <a:r>
              <a:rPr lang="en-US" sz="2200" b="1">
                <a:solidFill>
                  <a:srgbClr val="00B050"/>
                </a:solidFill>
              </a:rPr>
              <a:t>1M Tokens (Advanced)</a:t>
            </a:r>
          </a:p>
        </p:txBody>
      </p:sp>
      <p:sp>
        <p:nvSpPr>
          <p:cNvPr id="6" name="TextBox 5">
            <a:extLst>
              <a:ext uri="{FF2B5EF4-FFF2-40B4-BE49-F238E27FC236}">
                <a16:creationId xmlns:a16="http://schemas.microsoft.com/office/drawing/2014/main" id="{DF6CE2A4-79BD-C77E-DD86-EADC7E4CF891}"/>
              </a:ext>
            </a:extLst>
          </p:cNvPr>
          <p:cNvSpPr txBox="1"/>
          <p:nvPr/>
        </p:nvSpPr>
        <p:spPr>
          <a:xfrm>
            <a:off x="6223000" y="1524000"/>
            <a:ext cx="4826000" cy="2031325"/>
          </a:xfrm>
          <a:prstGeom prst="rect">
            <a:avLst/>
          </a:prstGeom>
          <a:noFill/>
        </p:spPr>
        <p:txBody>
          <a:bodyPr vert="horz" wrap="square" lIns="127000" rIns="127000" rtlCol="0">
            <a:noAutofit/>
          </a:bodyPr>
          <a:lstStyle/>
          <a:p>
            <a:pPr indent="-285750">
              <a:buChar char="•"/>
            </a:pPr>
            <a:r>
              <a:rPr lang="en-US" sz="1400"/>
              <a:t>Analyzes ~50K lines simultaneously
Sees entire monolith at once
Catches all cross-module dependencies
Seamless continuation
Tools: Cursor, Windsurf IDE</a:t>
            </a:r>
          </a:p>
        </p:txBody>
      </p:sp>
      <p:sp>
        <p:nvSpPr>
          <p:cNvPr id="7" name="TextBox 6">
            <a:extLst>
              <a:ext uri="{FF2B5EF4-FFF2-40B4-BE49-F238E27FC236}">
                <a16:creationId xmlns:a16="http://schemas.microsoft.com/office/drawing/2014/main" id="{90FD0C76-E651-5D20-4005-A9C1F7034A7E}"/>
              </a:ext>
            </a:extLst>
          </p:cNvPr>
          <p:cNvSpPr txBox="1"/>
          <p:nvPr/>
        </p:nvSpPr>
        <p:spPr>
          <a:xfrm>
            <a:off x="508000" y="3810000"/>
            <a:ext cx="11176000" cy="400110"/>
          </a:xfrm>
          <a:prstGeom prst="rect">
            <a:avLst/>
          </a:prstGeom>
          <a:noFill/>
        </p:spPr>
        <p:txBody>
          <a:bodyPr vert="horz" wrap="square" lIns="127000" rIns="127000" rtlCol="0">
            <a:noAutofit/>
          </a:bodyPr>
          <a:lstStyle/>
          <a:p>
            <a:r>
              <a:rPr lang="en-US" sz="2000" b="1">
                <a:solidFill>
                  <a:srgbClr val="000080"/>
                </a:solidFill>
              </a:rPr>
              <a:t>Business Impact</a:t>
            </a:r>
          </a:p>
        </p:txBody>
      </p:sp>
      <p:sp>
        <p:nvSpPr>
          <p:cNvPr id="8" name="TextBox 7">
            <a:extLst>
              <a:ext uri="{FF2B5EF4-FFF2-40B4-BE49-F238E27FC236}">
                <a16:creationId xmlns:a16="http://schemas.microsoft.com/office/drawing/2014/main" id="{A58AEE17-B5C6-0057-B084-F760DECEA1D0}"/>
              </a:ext>
            </a:extLst>
          </p:cNvPr>
          <p:cNvSpPr txBox="1"/>
          <p:nvPr/>
        </p:nvSpPr>
        <p:spPr>
          <a:xfrm>
            <a:off x="635000" y="4254500"/>
            <a:ext cx="10414000" cy="1708160"/>
          </a:xfrm>
          <a:prstGeom prst="rect">
            <a:avLst/>
          </a:prstGeom>
          <a:noFill/>
        </p:spPr>
        <p:txBody>
          <a:bodyPr vert="horz" wrap="square" lIns="127000" rIns="127000" rtlCol="0">
            <a:noAutofit/>
          </a:bodyPr>
          <a:lstStyle/>
          <a:p>
            <a:pPr indent="-285750">
              <a:buChar char="•"/>
            </a:pPr>
            <a:r>
              <a:rPr lang="en-US" sz="1500"/>
              <a:t>For apps &gt;300K LOC, 1M context is essential for:
Accurate dependency mapping (reduces bugs by 60%)
Comprehensive refactoring (prevents breaking changes)
Complete architecture understanding (faster decisions)</a:t>
            </a:r>
          </a:p>
        </p:txBody>
      </p:sp>
      <p:sp>
        <p:nvSpPr>
          <p:cNvPr id="9" name="TextBox 8">
            <a:extLst>
              <a:ext uri="{FF2B5EF4-FFF2-40B4-BE49-F238E27FC236}">
                <a16:creationId xmlns:a16="http://schemas.microsoft.com/office/drawing/2014/main" id="{FA64EF66-4444-84A0-C3FE-25FA24288181}"/>
              </a:ext>
            </a:extLst>
          </p:cNvPr>
          <p:cNvSpPr txBox="1"/>
          <p:nvPr/>
        </p:nvSpPr>
        <p:spPr>
          <a:xfrm>
            <a:off x="508000" y="6032500"/>
            <a:ext cx="11176000" cy="338554"/>
          </a:xfrm>
          <a:prstGeom prst="rect">
            <a:avLst/>
          </a:prstGeom>
          <a:noFill/>
        </p:spPr>
        <p:txBody>
          <a:bodyPr vert="horz" wrap="square" lIns="127000" rIns="127000" rtlCol="0">
            <a:noAutofit/>
          </a:bodyPr>
          <a:lstStyle/>
          <a:p>
            <a:r>
              <a:rPr lang="en-US" sz="1600" b="1">
                <a:solidFill>
                  <a:srgbClr val="00B050"/>
                </a:solidFill>
              </a:rPr>
              <a:t>Recommendation: Invest in 1M tools for large legacy modernization</a:t>
            </a:r>
          </a:p>
        </p:txBody>
      </p:sp>
    </p:spTree>
    <p:extLst>
      <p:ext uri="{BB962C8B-B14F-4D97-AF65-F5344CB8AC3E}">
        <p14:creationId xmlns:p14="http://schemas.microsoft.com/office/powerpoint/2010/main" val="2001682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148D27-051B-8F51-4809-59883F13CDD3}"/>
              </a:ext>
            </a:extLst>
          </p:cNvPr>
          <p:cNvSpPr txBox="1"/>
          <p:nvPr/>
        </p:nvSpPr>
        <p:spPr>
          <a:xfrm>
            <a:off x="508000" y="190500"/>
            <a:ext cx="11176000" cy="492443"/>
          </a:xfrm>
          <a:prstGeom prst="rect">
            <a:avLst/>
          </a:prstGeom>
          <a:noFill/>
        </p:spPr>
        <p:txBody>
          <a:bodyPr vert="horz" wrap="square" lIns="127000" rIns="127000" rtlCol="0">
            <a:noAutofit/>
          </a:bodyPr>
          <a:lstStyle/>
          <a:p>
            <a:r>
              <a:rPr lang="en-US" sz="2600" b="1">
                <a:solidFill>
                  <a:srgbClr val="000080"/>
                </a:solidFill>
              </a:rPr>
              <a:t>Token Limits: Critical Difference in Behavior</a:t>
            </a:r>
          </a:p>
        </p:txBody>
      </p:sp>
      <p:graphicFrame>
        <p:nvGraphicFramePr>
          <p:cNvPr id="3" name="Table 2">
            <a:extLst>
              <a:ext uri="{FF2B5EF4-FFF2-40B4-BE49-F238E27FC236}">
                <a16:creationId xmlns:a16="http://schemas.microsoft.com/office/drawing/2014/main" id="{60981C14-E6C2-28C4-4C17-8FEAF60C4968}"/>
              </a:ext>
            </a:extLst>
          </p:cNvPr>
          <p:cNvGraphicFramePr>
            <a:graphicFrameLocks noGrp="1"/>
          </p:cNvGraphicFramePr>
          <p:nvPr>
            <p:extLst>
              <p:ext uri="{D42A27DB-BD31-4B8C-83A1-F6EECF244321}">
                <p14:modId xmlns:p14="http://schemas.microsoft.com/office/powerpoint/2010/main" val="2278580182"/>
              </p:ext>
            </p:extLst>
          </p:nvPr>
        </p:nvGraphicFramePr>
        <p:xfrm>
          <a:off x="508000" y="1016000"/>
          <a:ext cx="11176000" cy="4445000"/>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2258329410"/>
                    </a:ext>
                  </a:extLst>
                </a:gridCol>
                <a:gridCol w="2794000">
                  <a:extLst>
                    <a:ext uri="{9D8B030D-6E8A-4147-A177-3AD203B41FA5}">
                      <a16:colId xmlns:a16="http://schemas.microsoft.com/office/drawing/2014/main" val="2299423156"/>
                    </a:ext>
                  </a:extLst>
                </a:gridCol>
                <a:gridCol w="2794000">
                  <a:extLst>
                    <a:ext uri="{9D8B030D-6E8A-4147-A177-3AD203B41FA5}">
                      <a16:colId xmlns:a16="http://schemas.microsoft.com/office/drawing/2014/main" val="1724911276"/>
                    </a:ext>
                  </a:extLst>
                </a:gridCol>
                <a:gridCol w="2794000">
                  <a:extLst>
                    <a:ext uri="{9D8B030D-6E8A-4147-A177-3AD203B41FA5}">
                      <a16:colId xmlns:a16="http://schemas.microsoft.com/office/drawing/2014/main" val="174085192"/>
                    </a:ext>
                  </a:extLst>
                </a:gridCol>
              </a:tblGrid>
              <a:tr h="740833">
                <a:tc>
                  <a:txBody>
                    <a:bodyPr/>
                    <a:lstStyle/>
                    <a:p>
                      <a:r>
                        <a:rPr lang="en-US" sz="1200" b="1">
                          <a:solidFill>
                            <a:srgbClr val="FFFFFF"/>
                          </a:solidFill>
                        </a:rPr>
                        <a:t>Tool</a:t>
                      </a:r>
                    </a:p>
                  </a:txBody>
                  <a:tcPr>
                    <a:solidFill>
                      <a:srgbClr val="000080"/>
                    </a:solidFill>
                  </a:tcPr>
                </a:tc>
                <a:tc>
                  <a:txBody>
                    <a:bodyPr/>
                    <a:lstStyle/>
                    <a:p>
                      <a:r>
                        <a:rPr lang="en-US" sz="1200" b="1">
                          <a:solidFill>
                            <a:srgbClr val="FFFFFF"/>
                          </a:solidFill>
                        </a:rPr>
                        <a:t>Context Size</a:t>
                      </a:r>
                    </a:p>
                  </a:txBody>
                  <a:tcPr>
                    <a:solidFill>
                      <a:srgbClr val="000080"/>
                    </a:solidFill>
                  </a:tcPr>
                </a:tc>
                <a:tc>
                  <a:txBody>
                    <a:bodyPr/>
                    <a:lstStyle/>
                    <a:p>
                      <a:r>
                        <a:rPr lang="en-US" sz="1200" b="1">
                          <a:solidFill>
                            <a:srgbClr val="FFFFFF"/>
                          </a:solidFill>
                        </a:rPr>
                        <a:t>When Limit Hit</a:t>
                      </a:r>
                    </a:p>
                  </a:txBody>
                  <a:tcPr>
                    <a:solidFill>
                      <a:srgbClr val="000080"/>
                    </a:solidFill>
                  </a:tcPr>
                </a:tc>
                <a:tc>
                  <a:txBody>
                    <a:bodyPr/>
                    <a:lstStyle/>
                    <a:p>
                      <a:r>
                        <a:rPr lang="en-US" sz="1200" b="1">
                          <a:solidFill>
                            <a:srgbClr val="FFFFFF"/>
                          </a:solidFill>
                        </a:rPr>
                        <a:t>Business Impact</a:t>
                      </a:r>
                    </a:p>
                  </a:txBody>
                  <a:tcPr>
                    <a:solidFill>
                      <a:srgbClr val="000080"/>
                    </a:solidFill>
                  </a:tcPr>
                </a:tc>
                <a:extLst>
                  <a:ext uri="{0D108BD9-81ED-4DB2-BD59-A6C34878D82A}">
                    <a16:rowId xmlns:a16="http://schemas.microsoft.com/office/drawing/2014/main" val="3386252441"/>
                  </a:ext>
                </a:extLst>
              </a:tr>
              <a:tr h="740833">
                <a:tc>
                  <a:txBody>
                    <a:bodyPr/>
                    <a:lstStyle/>
                    <a:p>
                      <a:r>
                        <a:rPr lang="en-US" sz="1000"/>
                        <a:t>GitHub Copilot</a:t>
                      </a:r>
                    </a:p>
                  </a:txBody>
                  <a:tcPr>
                    <a:solidFill>
                      <a:srgbClr val="F2F2F2"/>
                    </a:solidFill>
                  </a:tcPr>
                </a:tc>
                <a:tc>
                  <a:txBody>
                    <a:bodyPr/>
                    <a:lstStyle/>
                    <a:p>
                      <a:r>
                        <a:rPr lang="en-US" sz="1000"/>
                        <a:t>200K tokens</a:t>
                      </a:r>
                    </a:p>
                  </a:txBody>
                  <a:tcPr>
                    <a:solidFill>
                      <a:srgbClr val="F2F2F2"/>
                    </a:solidFill>
                  </a:tcPr>
                </a:tc>
                <a:tc>
                  <a:txBody>
                    <a:bodyPr/>
                    <a:lstStyle/>
                    <a:p>
                      <a:r>
                        <a:rPr lang="en-US" sz="1000"/>
                        <a:t>HARD STOP - Must start new chat</a:t>
                      </a:r>
                    </a:p>
                  </a:txBody>
                  <a:tcPr>
                    <a:solidFill>
                      <a:srgbClr val="F2F2F2"/>
                    </a:solidFill>
                  </a:tcPr>
                </a:tc>
                <a:tc>
                  <a:txBody>
                    <a:bodyPr/>
                    <a:lstStyle/>
                    <a:p>
                      <a:r>
                        <a:rPr lang="en-US" sz="1000"/>
                        <a:t>HIGH - Loses all context, frequent restarts</a:t>
                      </a:r>
                    </a:p>
                  </a:txBody>
                  <a:tcPr>
                    <a:solidFill>
                      <a:srgbClr val="F2F2F2"/>
                    </a:solidFill>
                  </a:tcPr>
                </a:tc>
                <a:extLst>
                  <a:ext uri="{0D108BD9-81ED-4DB2-BD59-A6C34878D82A}">
                    <a16:rowId xmlns:a16="http://schemas.microsoft.com/office/drawing/2014/main" val="2224172968"/>
                  </a:ext>
                </a:extLst>
              </a:tr>
              <a:tr h="740833">
                <a:tc>
                  <a:txBody>
                    <a:bodyPr/>
                    <a:lstStyle/>
                    <a:p>
                      <a:r>
                        <a:rPr lang="en-US" sz="1000"/>
                        <a:t>Claude Code</a:t>
                      </a:r>
                    </a:p>
                  </a:txBody>
                  <a:tcPr/>
                </a:tc>
                <a:tc>
                  <a:txBody>
                    <a:bodyPr/>
                    <a:lstStyle/>
                    <a:p>
                      <a:r>
                        <a:rPr lang="en-US" sz="1000"/>
                        <a:t>200K tokens</a:t>
                      </a:r>
                    </a:p>
                  </a:txBody>
                  <a:tcPr/>
                </a:tc>
                <a:tc>
                  <a:txBody>
                    <a:bodyPr/>
                    <a:lstStyle/>
                    <a:p>
                      <a:r>
                        <a:rPr lang="en-US" sz="1000"/>
                        <a:t>HARD STOP - Conversation ends</a:t>
                      </a:r>
                    </a:p>
                  </a:txBody>
                  <a:tcPr/>
                </a:tc>
                <a:tc>
                  <a:txBody>
                    <a:bodyPr/>
                    <a:lstStyle/>
                    <a:p>
                      <a:r>
                        <a:rPr lang="en-US" sz="1000"/>
                        <a:t>HIGH - Must re-explain architecture</a:t>
                      </a:r>
                    </a:p>
                  </a:txBody>
                  <a:tcPr/>
                </a:tc>
                <a:extLst>
                  <a:ext uri="{0D108BD9-81ED-4DB2-BD59-A6C34878D82A}">
                    <a16:rowId xmlns:a16="http://schemas.microsoft.com/office/drawing/2014/main" val="3192730387"/>
                  </a:ext>
                </a:extLst>
              </a:tr>
              <a:tr h="740833">
                <a:tc>
                  <a:txBody>
                    <a:bodyPr/>
                    <a:lstStyle/>
                    <a:p>
                      <a:r>
                        <a:rPr lang="en-US" sz="1000"/>
                        <a:t>Cline</a:t>
                      </a:r>
                    </a:p>
                  </a:txBody>
                  <a:tcPr>
                    <a:solidFill>
                      <a:srgbClr val="F2F2F2"/>
                    </a:solidFill>
                  </a:tcPr>
                </a:tc>
                <a:tc>
                  <a:txBody>
                    <a:bodyPr/>
                    <a:lstStyle/>
                    <a:p>
                      <a:r>
                        <a:rPr lang="en-US" sz="1000"/>
                        <a:t>200K tokens</a:t>
                      </a:r>
                    </a:p>
                  </a:txBody>
                  <a:tcPr>
                    <a:solidFill>
                      <a:srgbClr val="F2F2F2"/>
                    </a:solidFill>
                  </a:tcPr>
                </a:tc>
                <a:tc>
                  <a:txBody>
                    <a:bodyPr/>
                    <a:lstStyle/>
                    <a:p>
                      <a:r>
                        <a:rPr lang="en-US" sz="1000"/>
                        <a:t>HARD STOP - Task-based restart</a:t>
                      </a:r>
                    </a:p>
                  </a:txBody>
                  <a:tcPr>
                    <a:solidFill>
                      <a:srgbClr val="F2F2F2"/>
                    </a:solidFill>
                  </a:tcPr>
                </a:tc>
                <a:tc>
                  <a:txBody>
                    <a:bodyPr/>
                    <a:lstStyle/>
                    <a:p>
                      <a:r>
                        <a:rPr lang="en-US" sz="1000"/>
                        <a:t>MEDIUM - Task isolation helps</a:t>
                      </a:r>
                    </a:p>
                  </a:txBody>
                  <a:tcPr>
                    <a:solidFill>
                      <a:srgbClr val="F2F2F2"/>
                    </a:solidFill>
                  </a:tcPr>
                </a:tc>
                <a:extLst>
                  <a:ext uri="{0D108BD9-81ED-4DB2-BD59-A6C34878D82A}">
                    <a16:rowId xmlns:a16="http://schemas.microsoft.com/office/drawing/2014/main" val="4015220802"/>
                  </a:ext>
                </a:extLst>
              </a:tr>
              <a:tr h="740833">
                <a:tc>
                  <a:txBody>
                    <a:bodyPr/>
                    <a:lstStyle/>
                    <a:p>
                      <a:r>
                        <a:rPr lang="en-US" sz="1000"/>
                        <a:t>Cursor</a:t>
                      </a:r>
                    </a:p>
                  </a:txBody>
                  <a:tcPr/>
                </a:tc>
                <a:tc>
                  <a:txBody>
                    <a:bodyPr/>
                    <a:lstStyle/>
                    <a:p>
                      <a:r>
                        <a:rPr lang="en-US" sz="1000"/>
                        <a:t>200K or 1M</a:t>
                      </a:r>
                    </a:p>
                  </a:txBody>
                  <a:tcPr/>
                </a:tc>
                <a:tc>
                  <a:txBody>
                    <a:bodyPr/>
                    <a:lstStyle/>
                    <a:p>
                      <a:r>
                        <a:rPr lang="en-US" sz="1000"/>
                        <a:t>SOFT REFRESH - Auto-summary continues</a:t>
                      </a:r>
                    </a:p>
                  </a:txBody>
                  <a:tcPr/>
                </a:tc>
                <a:tc>
                  <a:txBody>
                    <a:bodyPr/>
                    <a:lstStyle/>
                    <a:p>
                      <a:r>
                        <a:rPr lang="en-US" sz="1000"/>
                        <a:t>LOW - Seamless, keeps working</a:t>
                      </a:r>
                    </a:p>
                  </a:txBody>
                  <a:tcPr/>
                </a:tc>
                <a:extLst>
                  <a:ext uri="{0D108BD9-81ED-4DB2-BD59-A6C34878D82A}">
                    <a16:rowId xmlns:a16="http://schemas.microsoft.com/office/drawing/2014/main" val="2470407971"/>
                  </a:ext>
                </a:extLst>
              </a:tr>
              <a:tr h="740833">
                <a:tc>
                  <a:txBody>
                    <a:bodyPr/>
                    <a:lstStyle/>
                    <a:p>
                      <a:r>
                        <a:rPr lang="en-US" sz="1000"/>
                        <a:t>Windsurf IDE</a:t>
                      </a:r>
                    </a:p>
                  </a:txBody>
                  <a:tcPr>
                    <a:solidFill>
                      <a:srgbClr val="F2F2F2"/>
                    </a:solidFill>
                  </a:tcPr>
                </a:tc>
                <a:tc>
                  <a:txBody>
                    <a:bodyPr/>
                    <a:lstStyle/>
                    <a:p>
                      <a:r>
                        <a:rPr lang="en-US" sz="1000"/>
                        <a:t>1M tokens</a:t>
                      </a:r>
                    </a:p>
                  </a:txBody>
                  <a:tcPr>
                    <a:solidFill>
                      <a:srgbClr val="F2F2F2"/>
                    </a:solidFill>
                  </a:tcPr>
                </a:tc>
                <a:tc>
                  <a:txBody>
                    <a:bodyPr/>
                    <a:lstStyle/>
                    <a:p>
                      <a:r>
                        <a:rPr lang="en-US" sz="1000"/>
                        <a:t>SOFT REFRESH - Intelligent context</a:t>
                      </a:r>
                    </a:p>
                  </a:txBody>
                  <a:tcPr>
                    <a:solidFill>
                      <a:srgbClr val="F2F2F2"/>
                    </a:solidFill>
                  </a:tcPr>
                </a:tc>
                <a:tc>
                  <a:txBody>
                    <a:bodyPr/>
                    <a:lstStyle/>
                    <a:p>
                      <a:r>
                        <a:rPr lang="en-US" sz="1000"/>
                        <a:t>VERY LOW - Rarely hits limit</a:t>
                      </a:r>
                    </a:p>
                  </a:txBody>
                  <a:tcPr>
                    <a:solidFill>
                      <a:srgbClr val="F2F2F2"/>
                    </a:solidFill>
                  </a:tcPr>
                </a:tc>
                <a:extLst>
                  <a:ext uri="{0D108BD9-81ED-4DB2-BD59-A6C34878D82A}">
                    <a16:rowId xmlns:a16="http://schemas.microsoft.com/office/drawing/2014/main" val="3105262534"/>
                  </a:ext>
                </a:extLst>
              </a:tr>
            </a:tbl>
          </a:graphicData>
        </a:graphic>
      </p:graphicFrame>
      <p:sp>
        <p:nvSpPr>
          <p:cNvPr id="4" name="TextBox 3">
            <a:extLst>
              <a:ext uri="{FF2B5EF4-FFF2-40B4-BE49-F238E27FC236}">
                <a16:creationId xmlns:a16="http://schemas.microsoft.com/office/drawing/2014/main" id="{2E541C59-23AA-F15C-828A-DD18301D61BA}"/>
              </a:ext>
            </a:extLst>
          </p:cNvPr>
          <p:cNvSpPr txBox="1"/>
          <p:nvPr/>
        </p:nvSpPr>
        <p:spPr>
          <a:xfrm>
            <a:off x="508000" y="5715000"/>
            <a:ext cx="11176000" cy="492443"/>
          </a:xfrm>
          <a:prstGeom prst="rect">
            <a:avLst/>
          </a:prstGeom>
          <a:noFill/>
        </p:spPr>
        <p:txBody>
          <a:bodyPr vert="horz" wrap="square" lIns="127000" rIns="127000" rtlCol="0">
            <a:noAutofit/>
          </a:bodyPr>
          <a:lstStyle/>
          <a:p>
            <a:r>
              <a:rPr lang="en-US" sz="1300" b="1">
                <a:solidFill>
                  <a:srgbClr val="00CC00"/>
                </a:solidFill>
              </a:rPr>
              <a:t>Key Insight: Hard stops lose architectural understanding and require re-explaining context. Soft refresh tools (Cursor/Windsurf) automatically summarize and continue seamlessly - critical for large modernization projects.</a:t>
            </a:r>
          </a:p>
        </p:txBody>
      </p:sp>
    </p:spTree>
    <p:extLst>
      <p:ext uri="{BB962C8B-B14F-4D97-AF65-F5344CB8AC3E}">
        <p14:creationId xmlns:p14="http://schemas.microsoft.com/office/powerpoint/2010/main" val="125761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B48C7B-0638-F07D-3534-F7BD93E01C83}"/>
              </a:ext>
            </a:extLst>
          </p:cNvPr>
          <p:cNvSpPr txBox="1"/>
          <p:nvPr/>
        </p:nvSpPr>
        <p:spPr>
          <a:xfrm>
            <a:off x="508000" y="190500"/>
            <a:ext cx="11176000" cy="492443"/>
          </a:xfrm>
          <a:prstGeom prst="rect">
            <a:avLst/>
          </a:prstGeom>
          <a:noFill/>
        </p:spPr>
        <p:txBody>
          <a:bodyPr vert="horz" wrap="square" lIns="127000" rIns="127000" rtlCol="0">
            <a:noAutofit/>
          </a:bodyPr>
          <a:lstStyle/>
          <a:p>
            <a:r>
              <a:rPr lang="en-US" sz="2600" b="1">
                <a:solidFill>
                  <a:srgbClr val="000080"/>
                </a:solidFill>
              </a:rPr>
              <a:t>Maintaining Conversation with Interruptions</a:t>
            </a:r>
          </a:p>
        </p:txBody>
      </p:sp>
      <p:graphicFrame>
        <p:nvGraphicFramePr>
          <p:cNvPr id="3" name="Table 2">
            <a:extLst>
              <a:ext uri="{FF2B5EF4-FFF2-40B4-BE49-F238E27FC236}">
                <a16:creationId xmlns:a16="http://schemas.microsoft.com/office/drawing/2014/main" id="{944C8A72-2666-2C2A-646F-50523D8347CD}"/>
              </a:ext>
            </a:extLst>
          </p:cNvPr>
          <p:cNvGraphicFramePr>
            <a:graphicFrameLocks noGrp="1"/>
          </p:cNvGraphicFramePr>
          <p:nvPr>
            <p:extLst>
              <p:ext uri="{D42A27DB-BD31-4B8C-83A1-F6EECF244321}">
                <p14:modId xmlns:p14="http://schemas.microsoft.com/office/powerpoint/2010/main" val="2121471116"/>
              </p:ext>
            </p:extLst>
          </p:nvPr>
        </p:nvGraphicFramePr>
        <p:xfrm>
          <a:off x="508000" y="1016000"/>
          <a:ext cx="11176000" cy="4445000"/>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1193892758"/>
                    </a:ext>
                  </a:extLst>
                </a:gridCol>
                <a:gridCol w="2794000">
                  <a:extLst>
                    <a:ext uri="{9D8B030D-6E8A-4147-A177-3AD203B41FA5}">
                      <a16:colId xmlns:a16="http://schemas.microsoft.com/office/drawing/2014/main" val="948232585"/>
                    </a:ext>
                  </a:extLst>
                </a:gridCol>
                <a:gridCol w="2794000">
                  <a:extLst>
                    <a:ext uri="{9D8B030D-6E8A-4147-A177-3AD203B41FA5}">
                      <a16:colId xmlns:a16="http://schemas.microsoft.com/office/drawing/2014/main" val="210381413"/>
                    </a:ext>
                  </a:extLst>
                </a:gridCol>
                <a:gridCol w="2794000">
                  <a:extLst>
                    <a:ext uri="{9D8B030D-6E8A-4147-A177-3AD203B41FA5}">
                      <a16:colId xmlns:a16="http://schemas.microsoft.com/office/drawing/2014/main" val="2517401545"/>
                    </a:ext>
                  </a:extLst>
                </a:gridCol>
              </a:tblGrid>
              <a:tr h="740833">
                <a:tc>
                  <a:txBody>
                    <a:bodyPr/>
                    <a:lstStyle/>
                    <a:p>
                      <a:r>
                        <a:rPr lang="en-US" sz="1200" b="1">
                          <a:solidFill>
                            <a:srgbClr val="FFFFFF"/>
                          </a:solidFill>
                        </a:rPr>
                        <a:t>Tool</a:t>
                      </a:r>
                    </a:p>
                  </a:txBody>
                  <a:tcPr>
                    <a:solidFill>
                      <a:srgbClr val="000080"/>
                    </a:solidFill>
                  </a:tcPr>
                </a:tc>
                <a:tc>
                  <a:txBody>
                    <a:bodyPr/>
                    <a:lstStyle/>
                    <a:p>
                      <a:r>
                        <a:rPr lang="en-US" sz="1200" b="1">
                          <a:solidFill>
                            <a:srgbClr val="FFFFFF"/>
                          </a:solidFill>
                        </a:rPr>
                        <a:t>Can Interrupt?</a:t>
                      </a:r>
                    </a:p>
                  </a:txBody>
                  <a:tcPr>
                    <a:solidFill>
                      <a:srgbClr val="000080"/>
                    </a:solidFill>
                  </a:tcPr>
                </a:tc>
                <a:tc>
                  <a:txBody>
                    <a:bodyPr/>
                    <a:lstStyle/>
                    <a:p>
                      <a:r>
                        <a:rPr lang="en-US" sz="1200" b="1">
                          <a:solidFill>
                            <a:srgbClr val="FFFFFF"/>
                          </a:solidFill>
                        </a:rPr>
                        <a:t>Resume After Interrupt?</a:t>
                      </a:r>
                    </a:p>
                  </a:txBody>
                  <a:tcPr>
                    <a:solidFill>
                      <a:srgbClr val="000080"/>
                    </a:solidFill>
                  </a:tcPr>
                </a:tc>
                <a:tc>
                  <a:txBody>
                    <a:bodyPr/>
                    <a:lstStyle/>
                    <a:p>
                      <a:r>
                        <a:rPr lang="en-US" sz="1200" b="1">
                          <a:solidFill>
                            <a:srgbClr val="FFFFFF"/>
                          </a:solidFill>
                        </a:rPr>
                        <a:t>Productivity Impact</a:t>
                      </a:r>
                    </a:p>
                  </a:txBody>
                  <a:tcPr>
                    <a:solidFill>
                      <a:srgbClr val="000080"/>
                    </a:solidFill>
                  </a:tcPr>
                </a:tc>
                <a:extLst>
                  <a:ext uri="{0D108BD9-81ED-4DB2-BD59-A6C34878D82A}">
                    <a16:rowId xmlns:a16="http://schemas.microsoft.com/office/drawing/2014/main" val="1374900988"/>
                  </a:ext>
                </a:extLst>
              </a:tr>
              <a:tr h="740833">
                <a:tc>
                  <a:txBody>
                    <a:bodyPr/>
                    <a:lstStyle/>
                    <a:p>
                      <a:r>
                        <a:rPr lang="en-US" sz="1000"/>
                        <a:t>Cursor</a:t>
                      </a:r>
                    </a:p>
                  </a:txBody>
                  <a:tcPr>
                    <a:solidFill>
                      <a:srgbClr val="F2F2F2"/>
                    </a:solidFill>
                  </a:tcPr>
                </a:tc>
                <a:tc>
                  <a:txBody>
                    <a:bodyPr/>
                    <a:lstStyle/>
                    <a:p>
                      <a:r>
                        <a:rPr lang="en-US" sz="1000"/>
                        <a:t>[YES] Anytime</a:t>
                      </a:r>
                    </a:p>
                  </a:txBody>
                  <a:tcPr>
                    <a:solidFill>
                      <a:srgbClr val="F2F2F2"/>
                    </a:solidFill>
                  </a:tcPr>
                </a:tc>
                <a:tc>
                  <a:txBody>
                    <a:bodyPr/>
                    <a:lstStyle/>
                    <a:p>
                      <a:r>
                        <a:rPr lang="en-US" sz="1000"/>
                        <a:t>[YES] Maintains full context</a:t>
                      </a:r>
                    </a:p>
                  </a:txBody>
                  <a:tcPr>
                    <a:solidFill>
                      <a:srgbClr val="F2F2F2"/>
                    </a:solidFill>
                  </a:tcPr>
                </a:tc>
                <a:tc>
                  <a:txBody>
                    <a:bodyPr/>
                    <a:lstStyle/>
                    <a:p>
                      <a:r>
                        <a:rPr lang="en-US" sz="1000"/>
                        <a:t>Excellent - Ask clarifying questions mid-task</a:t>
                      </a:r>
                    </a:p>
                  </a:txBody>
                  <a:tcPr>
                    <a:solidFill>
                      <a:srgbClr val="F2F2F2"/>
                    </a:solidFill>
                  </a:tcPr>
                </a:tc>
                <a:extLst>
                  <a:ext uri="{0D108BD9-81ED-4DB2-BD59-A6C34878D82A}">
                    <a16:rowId xmlns:a16="http://schemas.microsoft.com/office/drawing/2014/main" val="2794789939"/>
                  </a:ext>
                </a:extLst>
              </a:tr>
              <a:tr h="740833">
                <a:tc>
                  <a:txBody>
                    <a:bodyPr/>
                    <a:lstStyle/>
                    <a:p>
                      <a:r>
                        <a:rPr lang="en-US" sz="1000"/>
                        <a:t>Windsurf IDE</a:t>
                      </a:r>
                    </a:p>
                  </a:txBody>
                  <a:tcPr/>
                </a:tc>
                <a:tc>
                  <a:txBody>
                    <a:bodyPr/>
                    <a:lstStyle/>
                    <a:p>
                      <a:r>
                        <a:rPr lang="en-US" sz="1000"/>
                        <a:t>[YES] Anytime</a:t>
                      </a:r>
                    </a:p>
                  </a:txBody>
                  <a:tcPr/>
                </a:tc>
                <a:tc>
                  <a:txBody>
                    <a:bodyPr/>
                    <a:lstStyle/>
                    <a:p>
                      <a:r>
                        <a:rPr lang="en-US" sz="1000"/>
                        <a:t>[YES] Cascade remembers state</a:t>
                      </a:r>
                    </a:p>
                  </a:txBody>
                  <a:tcPr/>
                </a:tc>
                <a:tc>
                  <a:txBody>
                    <a:bodyPr/>
                    <a:lstStyle/>
                    <a:p>
                      <a:r>
                        <a:rPr lang="en-US" sz="1000"/>
                        <a:t>Excellent - Adjust plans on the fly</a:t>
                      </a:r>
                    </a:p>
                  </a:txBody>
                  <a:tcPr/>
                </a:tc>
                <a:extLst>
                  <a:ext uri="{0D108BD9-81ED-4DB2-BD59-A6C34878D82A}">
                    <a16:rowId xmlns:a16="http://schemas.microsoft.com/office/drawing/2014/main" val="1775644183"/>
                  </a:ext>
                </a:extLst>
              </a:tr>
              <a:tr h="740833">
                <a:tc>
                  <a:txBody>
                    <a:bodyPr/>
                    <a:lstStyle/>
                    <a:p>
                      <a:r>
                        <a:rPr lang="en-US" sz="1000"/>
                        <a:t>GitHub Copilot</a:t>
                      </a:r>
                    </a:p>
                  </a:txBody>
                  <a:tcPr>
                    <a:solidFill>
                      <a:srgbClr val="F2F2F2"/>
                    </a:solidFill>
                  </a:tcPr>
                </a:tc>
                <a:tc>
                  <a:txBody>
                    <a:bodyPr/>
                    <a:lstStyle/>
                    <a:p>
                      <a:r>
                        <a:rPr lang="en-US" sz="1000"/>
                        <a:t>[LIMITED]</a:t>
                      </a:r>
                    </a:p>
                  </a:txBody>
                  <a:tcPr>
                    <a:solidFill>
                      <a:srgbClr val="F2F2F2"/>
                    </a:solidFill>
                  </a:tcPr>
                </a:tc>
                <a:tc>
                  <a:txBody>
                    <a:bodyPr/>
                    <a:lstStyle/>
                    <a:p>
                      <a:r>
                        <a:rPr lang="en-US" sz="1000"/>
                        <a:t>[NO] Loses context</a:t>
                      </a:r>
                    </a:p>
                  </a:txBody>
                  <a:tcPr>
                    <a:solidFill>
                      <a:srgbClr val="F2F2F2"/>
                    </a:solidFill>
                  </a:tcPr>
                </a:tc>
                <a:tc>
                  <a:txBody>
                    <a:bodyPr/>
                    <a:lstStyle/>
                    <a:p>
                      <a:r>
                        <a:rPr lang="en-US" sz="1000"/>
                        <a:t>Poor - Must restart conversation</a:t>
                      </a:r>
                    </a:p>
                  </a:txBody>
                  <a:tcPr>
                    <a:solidFill>
                      <a:srgbClr val="F2F2F2"/>
                    </a:solidFill>
                  </a:tcPr>
                </a:tc>
                <a:extLst>
                  <a:ext uri="{0D108BD9-81ED-4DB2-BD59-A6C34878D82A}">
                    <a16:rowId xmlns:a16="http://schemas.microsoft.com/office/drawing/2014/main" val="4084899506"/>
                  </a:ext>
                </a:extLst>
              </a:tr>
              <a:tr h="740833">
                <a:tc>
                  <a:txBody>
                    <a:bodyPr/>
                    <a:lstStyle/>
                    <a:p>
                      <a:r>
                        <a:rPr lang="en-US" sz="1000"/>
                        <a:t>Claude Code</a:t>
                      </a:r>
                    </a:p>
                  </a:txBody>
                  <a:tcPr/>
                </a:tc>
                <a:tc>
                  <a:txBody>
                    <a:bodyPr/>
                    <a:lstStyle/>
                    <a:p>
                      <a:r>
                        <a:rPr lang="en-US" sz="1000"/>
                        <a:t>[NO] Wait for response</a:t>
                      </a:r>
                    </a:p>
                  </a:txBody>
                  <a:tcPr/>
                </a:tc>
                <a:tc>
                  <a:txBody>
                    <a:bodyPr/>
                    <a:lstStyle/>
                    <a:p>
                      <a:r>
                        <a:rPr lang="en-US" sz="1000"/>
                        <a:t>[NO] New conversation</a:t>
                      </a:r>
                    </a:p>
                  </a:txBody>
                  <a:tcPr/>
                </a:tc>
                <a:tc>
                  <a:txBody>
                    <a:bodyPr/>
                    <a:lstStyle/>
                    <a:p>
                      <a:r>
                        <a:rPr lang="en-US" sz="1000"/>
                        <a:t>Poor - Linear workflow only</a:t>
                      </a:r>
                    </a:p>
                  </a:txBody>
                  <a:tcPr/>
                </a:tc>
                <a:extLst>
                  <a:ext uri="{0D108BD9-81ED-4DB2-BD59-A6C34878D82A}">
                    <a16:rowId xmlns:a16="http://schemas.microsoft.com/office/drawing/2014/main" val="1403576621"/>
                  </a:ext>
                </a:extLst>
              </a:tr>
              <a:tr h="740833">
                <a:tc>
                  <a:txBody>
                    <a:bodyPr/>
                    <a:lstStyle/>
                    <a:p>
                      <a:r>
                        <a:rPr lang="en-US" sz="1000"/>
                        <a:t>Cline</a:t>
                      </a:r>
                    </a:p>
                  </a:txBody>
                  <a:tcPr>
                    <a:solidFill>
                      <a:srgbClr val="F2F2F2"/>
                    </a:solidFill>
                  </a:tcPr>
                </a:tc>
                <a:tc>
                  <a:txBody>
                    <a:bodyPr/>
                    <a:lstStyle/>
                    <a:p>
                      <a:r>
                        <a:rPr lang="en-US" sz="1000"/>
                        <a:t>[YES] Task control</a:t>
                      </a:r>
                    </a:p>
                  </a:txBody>
                  <a:tcPr>
                    <a:solidFill>
                      <a:srgbClr val="F2F2F2"/>
                    </a:solidFill>
                  </a:tcPr>
                </a:tc>
                <a:tc>
                  <a:txBody>
                    <a:bodyPr/>
                    <a:lstStyle/>
                    <a:p>
                      <a:r>
                        <a:rPr lang="en-US" sz="1000"/>
                        <a:t>[PARTIAL] Task-based</a:t>
                      </a:r>
                    </a:p>
                  </a:txBody>
                  <a:tcPr>
                    <a:solidFill>
                      <a:srgbClr val="F2F2F2"/>
                    </a:solidFill>
                  </a:tcPr>
                </a:tc>
                <a:tc>
                  <a:txBody>
                    <a:bodyPr/>
                    <a:lstStyle/>
                    <a:p>
                      <a:r>
                        <a:rPr lang="en-US" sz="1000"/>
                        <a:t>Good - Can pause/resume tasks</a:t>
                      </a:r>
                    </a:p>
                  </a:txBody>
                  <a:tcPr>
                    <a:solidFill>
                      <a:srgbClr val="F2F2F2"/>
                    </a:solidFill>
                  </a:tcPr>
                </a:tc>
                <a:extLst>
                  <a:ext uri="{0D108BD9-81ED-4DB2-BD59-A6C34878D82A}">
                    <a16:rowId xmlns:a16="http://schemas.microsoft.com/office/drawing/2014/main" val="2788635343"/>
                  </a:ext>
                </a:extLst>
              </a:tr>
            </a:tbl>
          </a:graphicData>
        </a:graphic>
      </p:graphicFrame>
      <p:sp>
        <p:nvSpPr>
          <p:cNvPr id="4" name="TextBox 3">
            <a:extLst>
              <a:ext uri="{FF2B5EF4-FFF2-40B4-BE49-F238E27FC236}">
                <a16:creationId xmlns:a16="http://schemas.microsoft.com/office/drawing/2014/main" id="{CBC6E962-5770-C1C1-9BE2-8380735E6522}"/>
              </a:ext>
            </a:extLst>
          </p:cNvPr>
          <p:cNvSpPr txBox="1"/>
          <p:nvPr/>
        </p:nvSpPr>
        <p:spPr>
          <a:xfrm>
            <a:off x="508000" y="5715000"/>
            <a:ext cx="11176000" cy="461665"/>
          </a:xfrm>
          <a:prstGeom prst="rect">
            <a:avLst/>
          </a:prstGeom>
          <a:noFill/>
        </p:spPr>
        <p:txBody>
          <a:bodyPr vert="horz" wrap="square" lIns="127000" rIns="127000" rtlCol="0">
            <a:noAutofit/>
          </a:bodyPr>
          <a:lstStyle/>
          <a:p>
            <a:r>
              <a:rPr lang="en-US" sz="1200" b="1">
                <a:solidFill>
                  <a:srgbClr val="FFCC00"/>
                </a:solidFill>
              </a:rPr>
              <a:t>Business Value: Cursor and Windsurf allow real-time collaboration - developers can interrupt with clarifications, change direction, or provide feedback while AI is working. This interactive approach reduces errors and improves output quality by 30-40%.</a:t>
            </a:r>
          </a:p>
        </p:txBody>
      </p:sp>
    </p:spTree>
    <p:extLst>
      <p:ext uri="{BB962C8B-B14F-4D97-AF65-F5344CB8AC3E}">
        <p14:creationId xmlns:p14="http://schemas.microsoft.com/office/powerpoint/2010/main" val="2884914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B73208-1EC0-A40A-9797-8624C3EBF065}"/>
              </a:ext>
            </a:extLst>
          </p:cNvPr>
          <p:cNvSpPr txBox="1"/>
          <p:nvPr/>
        </p:nvSpPr>
        <p:spPr>
          <a:xfrm>
            <a:off x="508000" y="190500"/>
            <a:ext cx="11176000" cy="461665"/>
          </a:xfrm>
          <a:prstGeom prst="rect">
            <a:avLst/>
          </a:prstGeom>
          <a:noFill/>
        </p:spPr>
        <p:txBody>
          <a:bodyPr vert="horz" wrap="square" lIns="127000" rIns="127000" rtlCol="0">
            <a:noAutofit/>
          </a:bodyPr>
          <a:lstStyle/>
          <a:p>
            <a:r>
              <a:rPr lang="en-US" sz="2400" b="1">
                <a:solidFill>
                  <a:srgbClr val="000080"/>
                </a:solidFill>
              </a:rPr>
              <a:t>Cursor's Voice Activation: Productivity Game-Changer</a:t>
            </a:r>
          </a:p>
        </p:txBody>
      </p:sp>
      <p:sp>
        <p:nvSpPr>
          <p:cNvPr id="3" name="TextBox 2">
            <a:extLst>
              <a:ext uri="{FF2B5EF4-FFF2-40B4-BE49-F238E27FC236}">
                <a16:creationId xmlns:a16="http://schemas.microsoft.com/office/drawing/2014/main" id="{3CF61CC0-17E5-AC89-C265-2EC60556366D}"/>
              </a:ext>
            </a:extLst>
          </p:cNvPr>
          <p:cNvSpPr txBox="1"/>
          <p:nvPr/>
        </p:nvSpPr>
        <p:spPr>
          <a:xfrm>
            <a:off x="508000" y="1016000"/>
            <a:ext cx="11176000" cy="400110"/>
          </a:xfrm>
          <a:prstGeom prst="rect">
            <a:avLst/>
          </a:prstGeom>
          <a:noFill/>
        </p:spPr>
        <p:txBody>
          <a:bodyPr vert="horz" wrap="square" lIns="127000" rIns="127000" rtlCol="0">
            <a:noAutofit/>
          </a:bodyPr>
          <a:lstStyle/>
          <a:p>
            <a:r>
              <a:rPr lang="en-US" sz="2000" b="1">
                <a:solidFill>
                  <a:srgbClr val="00B050"/>
                </a:solidFill>
              </a:rPr>
              <a:t>Unique Feature: Hands-Free Coding</a:t>
            </a:r>
          </a:p>
        </p:txBody>
      </p:sp>
      <p:sp>
        <p:nvSpPr>
          <p:cNvPr id="4" name="TextBox 3">
            <a:extLst>
              <a:ext uri="{FF2B5EF4-FFF2-40B4-BE49-F238E27FC236}">
                <a16:creationId xmlns:a16="http://schemas.microsoft.com/office/drawing/2014/main" id="{6B931EA7-6FD2-FDF0-C40D-C8715BF422AD}"/>
              </a:ext>
            </a:extLst>
          </p:cNvPr>
          <p:cNvSpPr txBox="1"/>
          <p:nvPr/>
        </p:nvSpPr>
        <p:spPr>
          <a:xfrm>
            <a:off x="635000" y="1460500"/>
            <a:ext cx="10414000" cy="2308324"/>
          </a:xfrm>
          <a:prstGeom prst="rect">
            <a:avLst/>
          </a:prstGeom>
          <a:noFill/>
        </p:spPr>
        <p:txBody>
          <a:bodyPr vert="horz" wrap="square" lIns="127000" rIns="127000" rtlCol="0">
            <a:noAutofit/>
          </a:bodyPr>
          <a:lstStyle/>
          <a:p>
            <a:pPr indent="-285750">
              <a:buChar char="•"/>
            </a:pPr>
            <a:r>
              <a:rPr lang="en-US" sz="1600"/>
              <a:t>Natural language voice commands for coding
Code while reviewing documentation or whiteboarding
Accessibility benefit for developers with mobility issues
Faster iteration during pair programming sessions
Reduces context switching between keyboard and mouse</a:t>
            </a:r>
          </a:p>
        </p:txBody>
      </p:sp>
      <p:sp>
        <p:nvSpPr>
          <p:cNvPr id="5" name="TextBox 4">
            <a:extLst>
              <a:ext uri="{FF2B5EF4-FFF2-40B4-BE49-F238E27FC236}">
                <a16:creationId xmlns:a16="http://schemas.microsoft.com/office/drawing/2014/main" id="{3A5F94A3-1855-3BB1-FD6C-3DF89CF73969}"/>
              </a:ext>
            </a:extLst>
          </p:cNvPr>
          <p:cNvSpPr txBox="1"/>
          <p:nvPr/>
        </p:nvSpPr>
        <p:spPr>
          <a:xfrm>
            <a:off x="508000" y="3683000"/>
            <a:ext cx="11176000" cy="400110"/>
          </a:xfrm>
          <a:prstGeom prst="rect">
            <a:avLst/>
          </a:prstGeom>
          <a:noFill/>
        </p:spPr>
        <p:txBody>
          <a:bodyPr vert="horz" wrap="square" lIns="127000" rIns="127000" rtlCol="0">
            <a:noAutofit/>
          </a:bodyPr>
          <a:lstStyle/>
          <a:p>
            <a:r>
              <a:rPr lang="en-US" sz="2000" b="1">
                <a:solidFill>
                  <a:srgbClr val="000080"/>
                </a:solidFill>
              </a:rPr>
              <a:t>Business Impact</a:t>
            </a:r>
          </a:p>
        </p:txBody>
      </p:sp>
      <p:sp>
        <p:nvSpPr>
          <p:cNvPr id="6" name="TextBox 5">
            <a:extLst>
              <a:ext uri="{FF2B5EF4-FFF2-40B4-BE49-F238E27FC236}">
                <a16:creationId xmlns:a16="http://schemas.microsoft.com/office/drawing/2014/main" id="{EF91C945-3687-83AC-A919-516775A3AFEA}"/>
              </a:ext>
            </a:extLst>
          </p:cNvPr>
          <p:cNvSpPr txBox="1"/>
          <p:nvPr/>
        </p:nvSpPr>
        <p:spPr>
          <a:xfrm>
            <a:off x="635000" y="4127500"/>
            <a:ext cx="10414000" cy="1815882"/>
          </a:xfrm>
          <a:prstGeom prst="rect">
            <a:avLst/>
          </a:prstGeom>
          <a:noFill/>
        </p:spPr>
        <p:txBody>
          <a:bodyPr vert="horz" wrap="square" lIns="127000" rIns="127000" rtlCol="0">
            <a:noAutofit/>
          </a:bodyPr>
          <a:lstStyle/>
          <a:p>
            <a:pPr indent="-285750">
              <a:buChar char="•"/>
            </a:pPr>
            <a:r>
              <a:rPr lang="en-US" sz="1600"/>
              <a:t>15-20% productivity boost in exploratory coding
Improved developer experience and satisfaction
Enables multitasking during code reviews
Competitive advantage: Only Cursor offers this feature</a:t>
            </a:r>
          </a:p>
        </p:txBody>
      </p:sp>
      <p:sp>
        <p:nvSpPr>
          <p:cNvPr id="7" name="TextBox 6">
            <a:extLst>
              <a:ext uri="{FF2B5EF4-FFF2-40B4-BE49-F238E27FC236}">
                <a16:creationId xmlns:a16="http://schemas.microsoft.com/office/drawing/2014/main" id="{63F81EC3-910D-15C1-5476-214E41BF9278}"/>
              </a:ext>
            </a:extLst>
          </p:cNvPr>
          <p:cNvSpPr txBox="1"/>
          <p:nvPr/>
        </p:nvSpPr>
        <p:spPr>
          <a:xfrm>
            <a:off x="508000" y="5969000"/>
            <a:ext cx="11176000" cy="307777"/>
          </a:xfrm>
          <a:prstGeom prst="rect">
            <a:avLst/>
          </a:prstGeom>
          <a:noFill/>
        </p:spPr>
        <p:txBody>
          <a:bodyPr vert="horz" wrap="square" lIns="127000" rIns="127000" rtlCol="0">
            <a:noAutofit/>
          </a:bodyPr>
          <a:lstStyle/>
          <a:p>
            <a:r>
              <a:rPr lang="en-US" sz="1400" b="1">
                <a:solidFill>
                  <a:srgbClr val="000080"/>
                </a:solidFill>
              </a:rPr>
              <a:t>Recommendation: Voice activation is a differentiator for Cursor, especially valuable for senior architects doing exploratory work</a:t>
            </a:r>
          </a:p>
        </p:txBody>
      </p:sp>
    </p:spTree>
    <p:extLst>
      <p:ext uri="{BB962C8B-B14F-4D97-AF65-F5344CB8AC3E}">
        <p14:creationId xmlns:p14="http://schemas.microsoft.com/office/powerpoint/2010/main" val="2333714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26D6B4-0F98-71D9-A0BB-AD728A3919BE}"/>
              </a:ext>
            </a:extLst>
          </p:cNvPr>
          <p:cNvSpPr txBox="1"/>
          <p:nvPr/>
        </p:nvSpPr>
        <p:spPr>
          <a:xfrm>
            <a:off x="508000" y="190500"/>
            <a:ext cx="11176000" cy="492443"/>
          </a:xfrm>
          <a:prstGeom prst="rect">
            <a:avLst/>
          </a:prstGeom>
          <a:noFill/>
        </p:spPr>
        <p:txBody>
          <a:bodyPr vert="horz" wrap="square" lIns="127000" rIns="127000" rtlCol="0">
            <a:noAutofit/>
          </a:bodyPr>
          <a:lstStyle/>
          <a:p>
            <a:r>
              <a:rPr lang="en-US" sz="2600" b="1">
                <a:solidFill>
                  <a:srgbClr val="000080"/>
                </a:solidFill>
              </a:rPr>
              <a:t>Decision Matrix: Which Tool for Your Scenario</a:t>
            </a:r>
          </a:p>
        </p:txBody>
      </p:sp>
      <p:graphicFrame>
        <p:nvGraphicFramePr>
          <p:cNvPr id="3" name="Table 2">
            <a:extLst>
              <a:ext uri="{FF2B5EF4-FFF2-40B4-BE49-F238E27FC236}">
                <a16:creationId xmlns:a16="http://schemas.microsoft.com/office/drawing/2014/main" id="{D769B25A-AB52-B4E3-C8D9-295370919ECF}"/>
              </a:ext>
            </a:extLst>
          </p:cNvPr>
          <p:cNvGraphicFramePr>
            <a:graphicFrameLocks noGrp="1"/>
          </p:cNvGraphicFramePr>
          <p:nvPr>
            <p:extLst>
              <p:ext uri="{D42A27DB-BD31-4B8C-83A1-F6EECF244321}">
                <p14:modId xmlns:p14="http://schemas.microsoft.com/office/powerpoint/2010/main" val="3135345291"/>
              </p:ext>
            </p:extLst>
          </p:nvPr>
        </p:nvGraphicFramePr>
        <p:xfrm>
          <a:off x="508000" y="1016000"/>
          <a:ext cx="11176000" cy="4445000"/>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3808975690"/>
                    </a:ext>
                  </a:extLst>
                </a:gridCol>
                <a:gridCol w="2794000">
                  <a:extLst>
                    <a:ext uri="{9D8B030D-6E8A-4147-A177-3AD203B41FA5}">
                      <a16:colId xmlns:a16="http://schemas.microsoft.com/office/drawing/2014/main" val="3594968770"/>
                    </a:ext>
                  </a:extLst>
                </a:gridCol>
                <a:gridCol w="2794000">
                  <a:extLst>
                    <a:ext uri="{9D8B030D-6E8A-4147-A177-3AD203B41FA5}">
                      <a16:colId xmlns:a16="http://schemas.microsoft.com/office/drawing/2014/main" val="996816892"/>
                    </a:ext>
                  </a:extLst>
                </a:gridCol>
                <a:gridCol w="2794000">
                  <a:extLst>
                    <a:ext uri="{9D8B030D-6E8A-4147-A177-3AD203B41FA5}">
                      <a16:colId xmlns:a16="http://schemas.microsoft.com/office/drawing/2014/main" val="634079800"/>
                    </a:ext>
                  </a:extLst>
                </a:gridCol>
              </a:tblGrid>
              <a:tr h="635000">
                <a:tc>
                  <a:txBody>
                    <a:bodyPr/>
                    <a:lstStyle/>
                    <a:p>
                      <a:r>
                        <a:rPr lang="en-US" sz="1200" b="1">
                          <a:solidFill>
                            <a:srgbClr val="FFFFFF"/>
                          </a:solidFill>
                        </a:rPr>
                        <a:t>Your Situation</a:t>
                      </a:r>
                    </a:p>
                  </a:txBody>
                  <a:tcPr>
                    <a:solidFill>
                      <a:srgbClr val="000080"/>
                    </a:solidFill>
                  </a:tcPr>
                </a:tc>
                <a:tc>
                  <a:txBody>
                    <a:bodyPr/>
                    <a:lstStyle/>
                    <a:p>
                      <a:r>
                        <a:rPr lang="en-US" sz="1200" b="1">
                          <a:solidFill>
                            <a:srgbClr val="FFFFFF"/>
                          </a:solidFill>
                        </a:rPr>
                        <a:t>Recommended Tool</a:t>
                      </a:r>
                    </a:p>
                  </a:txBody>
                  <a:tcPr>
                    <a:solidFill>
                      <a:srgbClr val="000080"/>
                    </a:solidFill>
                  </a:tcPr>
                </a:tc>
                <a:tc>
                  <a:txBody>
                    <a:bodyPr/>
                    <a:lstStyle/>
                    <a:p>
                      <a:r>
                        <a:rPr lang="en-US" sz="1200" b="1">
                          <a:solidFill>
                            <a:srgbClr val="FFFFFF"/>
                          </a:solidFill>
                        </a:rPr>
                        <a:t>Why</a:t>
                      </a:r>
                    </a:p>
                  </a:txBody>
                  <a:tcPr>
                    <a:solidFill>
                      <a:srgbClr val="000080"/>
                    </a:solidFill>
                  </a:tcPr>
                </a:tc>
                <a:tc>
                  <a:txBody>
                    <a:bodyPr/>
                    <a:lstStyle/>
                    <a:p>
                      <a:r>
                        <a:rPr lang="en-US" sz="1200" b="1">
                          <a:solidFill>
                            <a:srgbClr val="FFFFFF"/>
                          </a:solidFill>
                        </a:rPr>
                        <a:t>Investment</a:t>
                      </a:r>
                    </a:p>
                  </a:txBody>
                  <a:tcPr>
                    <a:solidFill>
                      <a:srgbClr val="000080"/>
                    </a:solidFill>
                  </a:tcPr>
                </a:tc>
                <a:extLst>
                  <a:ext uri="{0D108BD9-81ED-4DB2-BD59-A6C34878D82A}">
                    <a16:rowId xmlns:a16="http://schemas.microsoft.com/office/drawing/2014/main" val="1077020655"/>
                  </a:ext>
                </a:extLst>
              </a:tr>
              <a:tr h="635000">
                <a:tc>
                  <a:txBody>
                    <a:bodyPr/>
                    <a:lstStyle/>
                    <a:p>
                      <a:r>
                        <a:rPr lang="en-US" sz="1000"/>
                        <a:t>Large monolith (&gt;300K LOC)</a:t>
                      </a:r>
                    </a:p>
                  </a:txBody>
                  <a:tcPr>
                    <a:solidFill>
                      <a:srgbClr val="F2F2F2"/>
                    </a:solidFill>
                  </a:tcPr>
                </a:tc>
                <a:tc>
                  <a:txBody>
                    <a:bodyPr/>
                    <a:lstStyle/>
                    <a:p>
                      <a:r>
                        <a:rPr lang="en-US" sz="1000"/>
                        <a:t>Cursor or Windsurf</a:t>
                      </a:r>
                    </a:p>
                  </a:txBody>
                  <a:tcPr>
                    <a:solidFill>
                      <a:srgbClr val="F2F2F2"/>
                    </a:solidFill>
                  </a:tcPr>
                </a:tc>
                <a:tc>
                  <a:txBody>
                    <a:bodyPr/>
                    <a:lstStyle/>
                    <a:p>
                      <a:r>
                        <a:rPr lang="en-US" sz="1000"/>
                        <a:t>1M context essential</a:t>
                      </a:r>
                    </a:p>
                  </a:txBody>
                  <a:tcPr>
                    <a:solidFill>
                      <a:srgbClr val="F2F2F2"/>
                    </a:solidFill>
                  </a:tcPr>
                </a:tc>
                <a:tc>
                  <a:txBody>
                    <a:bodyPr/>
                    <a:lstStyle/>
                    <a:p>
                      <a:r>
                        <a:rPr lang="en-US" sz="1000"/>
                        <a:t>-40/user/mo</a:t>
                      </a:r>
                    </a:p>
                  </a:txBody>
                  <a:tcPr>
                    <a:solidFill>
                      <a:srgbClr val="F2F2F2"/>
                    </a:solidFill>
                  </a:tcPr>
                </a:tc>
                <a:extLst>
                  <a:ext uri="{0D108BD9-81ED-4DB2-BD59-A6C34878D82A}">
                    <a16:rowId xmlns:a16="http://schemas.microsoft.com/office/drawing/2014/main" val="3366255300"/>
                  </a:ext>
                </a:extLst>
              </a:tr>
              <a:tr h="635000">
                <a:tc>
                  <a:txBody>
                    <a:bodyPr/>
                    <a:lstStyle/>
                    <a:p>
                      <a:r>
                        <a:rPr lang="en-US" sz="1000"/>
                        <a:t>Azure/Microsoft ecosystem</a:t>
                      </a:r>
                    </a:p>
                  </a:txBody>
                  <a:tcPr/>
                </a:tc>
                <a:tc>
                  <a:txBody>
                    <a:bodyPr/>
                    <a:lstStyle/>
                    <a:p>
                      <a:r>
                        <a:rPr lang="en-US" sz="1000"/>
                        <a:t>GitHub Copilot</a:t>
                      </a:r>
                    </a:p>
                  </a:txBody>
                  <a:tcPr/>
                </a:tc>
                <a:tc>
                  <a:txBody>
                    <a:bodyPr/>
                    <a:lstStyle/>
                    <a:p>
                      <a:r>
                        <a:rPr lang="en-US" sz="1000"/>
                        <a:t>Native integration</a:t>
                      </a:r>
                    </a:p>
                  </a:txBody>
                  <a:tcPr/>
                </a:tc>
                <a:tc>
                  <a:txBody>
                    <a:bodyPr/>
                    <a:lstStyle/>
                    <a:p>
                      <a:r>
                        <a:rPr lang="en-US" sz="1000"/>
                        <a:t>-39/user/mo</a:t>
                      </a:r>
                    </a:p>
                  </a:txBody>
                  <a:tcPr/>
                </a:tc>
                <a:extLst>
                  <a:ext uri="{0D108BD9-81ED-4DB2-BD59-A6C34878D82A}">
                    <a16:rowId xmlns:a16="http://schemas.microsoft.com/office/drawing/2014/main" val="1201866351"/>
                  </a:ext>
                </a:extLst>
              </a:tr>
              <a:tr h="635000">
                <a:tc>
                  <a:txBody>
                    <a:bodyPr/>
                    <a:lstStyle/>
                    <a:p>
                      <a:r>
                        <a:rPr lang="en-US" sz="1000"/>
                        <a:t>Budget-conscious</a:t>
                      </a:r>
                    </a:p>
                  </a:txBody>
                  <a:tcPr>
                    <a:solidFill>
                      <a:srgbClr val="F2F2F2"/>
                    </a:solidFill>
                  </a:tcPr>
                </a:tc>
                <a:tc>
                  <a:txBody>
                    <a:bodyPr/>
                    <a:lstStyle/>
                    <a:p>
                      <a:r>
                        <a:rPr lang="en-US" sz="1000"/>
                        <a:t>Windsurf IDE</a:t>
                      </a:r>
                    </a:p>
                  </a:txBody>
                  <a:tcPr>
                    <a:solidFill>
                      <a:srgbClr val="F2F2F2"/>
                    </a:solidFill>
                  </a:tcPr>
                </a:tc>
                <a:tc>
                  <a:txBody>
                    <a:bodyPr/>
                    <a:lstStyle/>
                    <a:p>
                      <a:r>
                        <a:rPr lang="en-US" sz="1000"/>
                        <a:t>Best value with 1M</a:t>
                      </a:r>
                    </a:p>
                  </a:txBody>
                  <a:tcPr>
                    <a:solidFill>
                      <a:srgbClr val="F2F2F2"/>
                    </a:solidFill>
                  </a:tcPr>
                </a:tc>
                <a:tc>
                  <a:txBody>
                    <a:bodyPr/>
                    <a:lstStyle/>
                    <a:p>
                      <a:r>
                        <a:rPr lang="en-US" sz="1000"/>
                        <a:t>-15/user/mo</a:t>
                      </a:r>
                    </a:p>
                  </a:txBody>
                  <a:tcPr>
                    <a:solidFill>
                      <a:srgbClr val="F2F2F2"/>
                    </a:solidFill>
                  </a:tcPr>
                </a:tc>
                <a:extLst>
                  <a:ext uri="{0D108BD9-81ED-4DB2-BD59-A6C34878D82A}">
                    <a16:rowId xmlns:a16="http://schemas.microsoft.com/office/drawing/2014/main" val="1387012949"/>
                  </a:ext>
                </a:extLst>
              </a:tr>
              <a:tr h="635000">
                <a:tc>
                  <a:txBody>
                    <a:bodyPr/>
                    <a:lstStyle/>
                    <a:p>
                      <a:r>
                        <a:rPr lang="en-US" sz="1000"/>
                        <a:t>Banking/Healthcare/Gov</a:t>
                      </a:r>
                    </a:p>
                  </a:txBody>
                  <a:tcPr/>
                </a:tc>
                <a:tc>
                  <a:txBody>
                    <a:bodyPr/>
                    <a:lstStyle/>
                    <a:p>
                      <a:r>
                        <a:rPr lang="en-US" sz="1000"/>
                        <a:t>Cline</a:t>
                      </a:r>
                    </a:p>
                  </a:txBody>
                  <a:tcPr/>
                </a:tc>
                <a:tc>
                  <a:txBody>
                    <a:bodyPr/>
                    <a:lstStyle/>
                    <a:p>
                      <a:r>
                        <a:rPr lang="en-US" sz="1000"/>
                        <a:t>Air-gapped security</a:t>
                      </a:r>
                    </a:p>
                  </a:txBody>
                  <a:tcPr/>
                </a:tc>
                <a:tc>
                  <a:txBody>
                    <a:bodyPr/>
                    <a:lstStyle/>
                    <a:p>
                      <a:r>
                        <a:rPr lang="en-US" sz="1000"/>
                        <a:t>Self-hosted</a:t>
                      </a:r>
                    </a:p>
                  </a:txBody>
                  <a:tcPr/>
                </a:tc>
                <a:extLst>
                  <a:ext uri="{0D108BD9-81ED-4DB2-BD59-A6C34878D82A}">
                    <a16:rowId xmlns:a16="http://schemas.microsoft.com/office/drawing/2014/main" val="2242802299"/>
                  </a:ext>
                </a:extLst>
              </a:tr>
              <a:tr h="635000">
                <a:tc>
                  <a:txBody>
                    <a:bodyPr/>
                    <a:lstStyle/>
                    <a:p>
                      <a:r>
                        <a:rPr lang="en-US" sz="1000"/>
                        <a:t>Incremental updates</a:t>
                      </a:r>
                    </a:p>
                  </a:txBody>
                  <a:tcPr>
                    <a:solidFill>
                      <a:srgbClr val="F2F2F2"/>
                    </a:solidFill>
                  </a:tcPr>
                </a:tc>
                <a:tc>
                  <a:txBody>
                    <a:bodyPr/>
                    <a:lstStyle/>
                    <a:p>
                      <a:r>
                        <a:rPr lang="en-US" sz="1000"/>
                        <a:t>GitHub Copilot</a:t>
                      </a:r>
                    </a:p>
                  </a:txBody>
                  <a:tcPr>
                    <a:solidFill>
                      <a:srgbClr val="F2F2F2"/>
                    </a:solidFill>
                  </a:tcPr>
                </a:tc>
                <a:tc>
                  <a:txBody>
                    <a:bodyPr/>
                    <a:lstStyle/>
                    <a:p>
                      <a:r>
                        <a:rPr lang="en-US" sz="1000"/>
                        <a:t>Fastest generation</a:t>
                      </a:r>
                    </a:p>
                  </a:txBody>
                  <a:tcPr>
                    <a:solidFill>
                      <a:srgbClr val="F2F2F2"/>
                    </a:solidFill>
                  </a:tcPr>
                </a:tc>
                <a:tc>
                  <a:txBody>
                    <a:bodyPr/>
                    <a:lstStyle/>
                    <a:p>
                      <a:r>
                        <a:rPr lang="en-US" sz="1000"/>
                        <a:t>-39/user/mo</a:t>
                      </a:r>
                    </a:p>
                  </a:txBody>
                  <a:tcPr>
                    <a:solidFill>
                      <a:srgbClr val="F2F2F2"/>
                    </a:solidFill>
                  </a:tcPr>
                </a:tc>
                <a:extLst>
                  <a:ext uri="{0D108BD9-81ED-4DB2-BD59-A6C34878D82A}">
                    <a16:rowId xmlns:a16="http://schemas.microsoft.com/office/drawing/2014/main" val="2159619831"/>
                  </a:ext>
                </a:extLst>
              </a:tr>
              <a:tr h="635000">
                <a:tc>
                  <a:txBody>
                    <a:bodyPr/>
                    <a:lstStyle/>
                    <a:p>
                      <a:r>
                        <a:rPr lang="en-US" sz="1000"/>
                        <a:t>Multiple small projects</a:t>
                      </a:r>
                    </a:p>
                  </a:txBody>
                  <a:tcPr/>
                </a:tc>
                <a:tc>
                  <a:txBody>
                    <a:bodyPr/>
                    <a:lstStyle/>
                    <a:p>
                      <a:r>
                        <a:rPr lang="en-US" sz="1000"/>
                        <a:t>Claude Code</a:t>
                      </a:r>
                    </a:p>
                  </a:txBody>
                  <a:tcPr/>
                </a:tc>
                <a:tc>
                  <a:txBody>
                    <a:bodyPr/>
                    <a:lstStyle/>
                    <a:p>
                      <a:r>
                        <a:rPr lang="en-US" sz="1000"/>
                        <a:t>Easy to use</a:t>
                      </a:r>
                    </a:p>
                  </a:txBody>
                  <a:tcPr/>
                </a:tc>
                <a:tc>
                  <a:txBody>
                    <a:bodyPr/>
                    <a:lstStyle/>
                    <a:p>
                      <a:r>
                        <a:rPr lang="en-US" sz="1000"/>
                        <a:t>/user/mo</a:t>
                      </a:r>
                    </a:p>
                  </a:txBody>
                  <a:tcPr/>
                </a:tc>
                <a:extLst>
                  <a:ext uri="{0D108BD9-81ED-4DB2-BD59-A6C34878D82A}">
                    <a16:rowId xmlns:a16="http://schemas.microsoft.com/office/drawing/2014/main" val="1105013522"/>
                  </a:ext>
                </a:extLst>
              </a:tr>
            </a:tbl>
          </a:graphicData>
        </a:graphic>
      </p:graphicFrame>
      <p:sp>
        <p:nvSpPr>
          <p:cNvPr id="4" name="TextBox 3">
            <a:extLst>
              <a:ext uri="{FF2B5EF4-FFF2-40B4-BE49-F238E27FC236}">
                <a16:creationId xmlns:a16="http://schemas.microsoft.com/office/drawing/2014/main" id="{45C7C709-7E9D-D4DD-7A51-BA49680D8777}"/>
              </a:ext>
            </a:extLst>
          </p:cNvPr>
          <p:cNvSpPr txBox="1"/>
          <p:nvPr/>
        </p:nvSpPr>
        <p:spPr>
          <a:xfrm>
            <a:off x="508000" y="5715000"/>
            <a:ext cx="11176000" cy="276999"/>
          </a:xfrm>
          <a:prstGeom prst="rect">
            <a:avLst/>
          </a:prstGeom>
          <a:noFill/>
        </p:spPr>
        <p:txBody>
          <a:bodyPr vert="horz" wrap="square" lIns="127000" rIns="127000" rtlCol="0">
            <a:noAutofit/>
          </a:bodyPr>
          <a:lstStyle/>
          <a:p>
            <a:r>
              <a:rPr lang="en-US" sz="1200" b="1">
                <a:solidFill>
                  <a:srgbClr val="00CC00"/>
                </a:solidFill>
              </a:rPr>
              <a:t>Most organizations need only ONE tool. Choose based on your primary use case.</a:t>
            </a:r>
          </a:p>
        </p:txBody>
      </p:sp>
    </p:spTree>
    <p:extLst>
      <p:ext uri="{BB962C8B-B14F-4D97-AF65-F5344CB8AC3E}">
        <p14:creationId xmlns:p14="http://schemas.microsoft.com/office/powerpoint/2010/main" val="2863895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51412D-D4ED-65A3-5DA6-216EBD0C3C57}"/>
              </a:ext>
            </a:extLst>
          </p:cNvPr>
          <p:cNvSpPr txBox="1"/>
          <p:nvPr/>
        </p:nvSpPr>
        <p:spPr>
          <a:xfrm>
            <a:off x="508000" y="190500"/>
            <a:ext cx="11176000" cy="584775"/>
          </a:xfrm>
          <a:prstGeom prst="rect">
            <a:avLst/>
          </a:prstGeom>
          <a:noFill/>
        </p:spPr>
        <p:txBody>
          <a:bodyPr vert="horz" wrap="square" lIns="127000" rIns="127000" rtlCol="0">
            <a:noAutofit/>
          </a:bodyPr>
          <a:lstStyle/>
          <a:p>
            <a:r>
              <a:rPr lang="en-US" sz="3200" b="1">
                <a:solidFill>
                  <a:srgbClr val="000080"/>
                </a:solidFill>
              </a:rPr>
              <a:t>Risk Assessment &amp; Mitigation</a:t>
            </a:r>
          </a:p>
        </p:txBody>
      </p:sp>
      <p:graphicFrame>
        <p:nvGraphicFramePr>
          <p:cNvPr id="3" name="Table 2">
            <a:extLst>
              <a:ext uri="{FF2B5EF4-FFF2-40B4-BE49-F238E27FC236}">
                <a16:creationId xmlns:a16="http://schemas.microsoft.com/office/drawing/2014/main" id="{ECC4FEC4-A890-71FA-14BB-FD86FAF6A897}"/>
              </a:ext>
            </a:extLst>
          </p:cNvPr>
          <p:cNvGraphicFramePr>
            <a:graphicFrameLocks noGrp="1"/>
          </p:cNvGraphicFramePr>
          <p:nvPr>
            <p:extLst>
              <p:ext uri="{D42A27DB-BD31-4B8C-83A1-F6EECF244321}">
                <p14:modId xmlns:p14="http://schemas.microsoft.com/office/powerpoint/2010/main" val="4924157"/>
              </p:ext>
            </p:extLst>
          </p:nvPr>
        </p:nvGraphicFramePr>
        <p:xfrm>
          <a:off x="508000" y="1016000"/>
          <a:ext cx="11176000" cy="4445000"/>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2452769443"/>
                    </a:ext>
                  </a:extLst>
                </a:gridCol>
                <a:gridCol w="2794000">
                  <a:extLst>
                    <a:ext uri="{9D8B030D-6E8A-4147-A177-3AD203B41FA5}">
                      <a16:colId xmlns:a16="http://schemas.microsoft.com/office/drawing/2014/main" val="1493462362"/>
                    </a:ext>
                  </a:extLst>
                </a:gridCol>
                <a:gridCol w="2794000">
                  <a:extLst>
                    <a:ext uri="{9D8B030D-6E8A-4147-A177-3AD203B41FA5}">
                      <a16:colId xmlns:a16="http://schemas.microsoft.com/office/drawing/2014/main" val="1540811143"/>
                    </a:ext>
                  </a:extLst>
                </a:gridCol>
                <a:gridCol w="2794000">
                  <a:extLst>
                    <a:ext uri="{9D8B030D-6E8A-4147-A177-3AD203B41FA5}">
                      <a16:colId xmlns:a16="http://schemas.microsoft.com/office/drawing/2014/main" val="90042793"/>
                    </a:ext>
                  </a:extLst>
                </a:gridCol>
              </a:tblGrid>
              <a:tr h="740833">
                <a:tc>
                  <a:txBody>
                    <a:bodyPr/>
                    <a:lstStyle/>
                    <a:p>
                      <a:r>
                        <a:rPr lang="en-US" sz="1200" b="1">
                          <a:solidFill>
                            <a:srgbClr val="FFFFFF"/>
                          </a:solidFill>
                        </a:rPr>
                        <a:t>Risk</a:t>
                      </a:r>
                    </a:p>
                  </a:txBody>
                  <a:tcPr>
                    <a:solidFill>
                      <a:srgbClr val="000080"/>
                    </a:solidFill>
                  </a:tcPr>
                </a:tc>
                <a:tc>
                  <a:txBody>
                    <a:bodyPr/>
                    <a:lstStyle/>
                    <a:p>
                      <a:r>
                        <a:rPr lang="en-US" sz="1200" b="1">
                          <a:solidFill>
                            <a:srgbClr val="FFFFFF"/>
                          </a:solidFill>
                        </a:rPr>
                        <a:t>Impact</a:t>
                      </a:r>
                    </a:p>
                  </a:txBody>
                  <a:tcPr>
                    <a:solidFill>
                      <a:srgbClr val="000080"/>
                    </a:solidFill>
                  </a:tcPr>
                </a:tc>
                <a:tc>
                  <a:txBody>
                    <a:bodyPr/>
                    <a:lstStyle/>
                    <a:p>
                      <a:r>
                        <a:rPr lang="en-US" sz="1200" b="1">
                          <a:solidFill>
                            <a:srgbClr val="FFFFFF"/>
                          </a:solidFill>
                        </a:rPr>
                        <a:t>Mitigation Strategy</a:t>
                      </a:r>
                    </a:p>
                  </a:txBody>
                  <a:tcPr>
                    <a:solidFill>
                      <a:srgbClr val="000080"/>
                    </a:solidFill>
                  </a:tcPr>
                </a:tc>
                <a:tc>
                  <a:txBody>
                    <a:bodyPr/>
                    <a:lstStyle/>
                    <a:p>
                      <a:r>
                        <a:rPr lang="en-US" sz="1200" b="1">
                          <a:solidFill>
                            <a:srgbClr val="FFFFFF"/>
                          </a:solidFill>
                        </a:rPr>
                        <a:t>Tool Choice</a:t>
                      </a:r>
                    </a:p>
                  </a:txBody>
                  <a:tcPr>
                    <a:solidFill>
                      <a:srgbClr val="000080"/>
                    </a:solidFill>
                  </a:tcPr>
                </a:tc>
                <a:extLst>
                  <a:ext uri="{0D108BD9-81ED-4DB2-BD59-A6C34878D82A}">
                    <a16:rowId xmlns:a16="http://schemas.microsoft.com/office/drawing/2014/main" val="271625736"/>
                  </a:ext>
                </a:extLst>
              </a:tr>
              <a:tr h="740833">
                <a:tc>
                  <a:txBody>
                    <a:bodyPr/>
                    <a:lstStyle/>
                    <a:p>
                      <a:r>
                        <a:rPr lang="en-US" sz="1000"/>
                        <a:t>Missing dependencies</a:t>
                      </a:r>
                    </a:p>
                  </a:txBody>
                  <a:tcPr>
                    <a:solidFill>
                      <a:srgbClr val="F2F2F2"/>
                    </a:solidFill>
                  </a:tcPr>
                </a:tc>
                <a:tc>
                  <a:txBody>
                    <a:bodyPr/>
                    <a:lstStyle/>
                    <a:p>
                      <a:r>
                        <a:rPr lang="en-US" sz="1000"/>
                        <a:t>High - broken code</a:t>
                      </a:r>
                    </a:p>
                  </a:txBody>
                  <a:tcPr>
                    <a:solidFill>
                      <a:srgbClr val="F2F2F2"/>
                    </a:solidFill>
                  </a:tcPr>
                </a:tc>
                <a:tc>
                  <a:txBody>
                    <a:bodyPr/>
                    <a:lstStyle/>
                    <a:p>
                      <a:r>
                        <a:rPr lang="en-US" sz="1000"/>
                        <a:t>Use 1M context tools</a:t>
                      </a:r>
                    </a:p>
                  </a:txBody>
                  <a:tcPr>
                    <a:solidFill>
                      <a:srgbClr val="F2F2F2"/>
                    </a:solidFill>
                  </a:tcPr>
                </a:tc>
                <a:tc>
                  <a:txBody>
                    <a:bodyPr/>
                    <a:lstStyle/>
                    <a:p>
                      <a:r>
                        <a:rPr lang="en-US" sz="1000"/>
                        <a:t>Cursor/Windsurf</a:t>
                      </a:r>
                    </a:p>
                  </a:txBody>
                  <a:tcPr>
                    <a:solidFill>
                      <a:srgbClr val="F2F2F2"/>
                    </a:solidFill>
                  </a:tcPr>
                </a:tc>
                <a:extLst>
                  <a:ext uri="{0D108BD9-81ED-4DB2-BD59-A6C34878D82A}">
                    <a16:rowId xmlns:a16="http://schemas.microsoft.com/office/drawing/2014/main" val="1984235495"/>
                  </a:ext>
                </a:extLst>
              </a:tr>
              <a:tr h="740833">
                <a:tc>
                  <a:txBody>
                    <a:bodyPr/>
                    <a:lstStyle/>
                    <a:p>
                      <a:r>
                        <a:rPr lang="en-US" sz="1000"/>
                        <a:t>Data privacy concerns</a:t>
                      </a:r>
                    </a:p>
                  </a:txBody>
                  <a:tcPr/>
                </a:tc>
                <a:tc>
                  <a:txBody>
                    <a:bodyPr/>
                    <a:lstStyle/>
                    <a:p>
                      <a:r>
                        <a:rPr lang="en-US" sz="1000"/>
                        <a:t>High - compliance</a:t>
                      </a:r>
                    </a:p>
                  </a:txBody>
                  <a:tcPr/>
                </a:tc>
                <a:tc>
                  <a:txBody>
                    <a:bodyPr/>
                    <a:lstStyle/>
                    <a:p>
                      <a:r>
                        <a:rPr lang="en-US" sz="1000"/>
                        <a:t>Air-gapped deployment</a:t>
                      </a:r>
                    </a:p>
                  </a:txBody>
                  <a:tcPr/>
                </a:tc>
                <a:tc>
                  <a:txBody>
                    <a:bodyPr/>
                    <a:lstStyle/>
                    <a:p>
                      <a:r>
                        <a:rPr lang="en-US" sz="1000"/>
                        <a:t>Cline</a:t>
                      </a:r>
                    </a:p>
                  </a:txBody>
                  <a:tcPr/>
                </a:tc>
                <a:extLst>
                  <a:ext uri="{0D108BD9-81ED-4DB2-BD59-A6C34878D82A}">
                    <a16:rowId xmlns:a16="http://schemas.microsoft.com/office/drawing/2014/main" val="916296480"/>
                  </a:ext>
                </a:extLst>
              </a:tr>
              <a:tr h="740833">
                <a:tc>
                  <a:txBody>
                    <a:bodyPr/>
                    <a:lstStyle/>
                    <a:p>
                      <a:r>
                        <a:rPr lang="en-US" sz="1000"/>
                        <a:t>Incomplete refactoring</a:t>
                      </a:r>
                    </a:p>
                  </a:txBody>
                  <a:tcPr>
                    <a:solidFill>
                      <a:srgbClr val="F2F2F2"/>
                    </a:solidFill>
                  </a:tcPr>
                </a:tc>
                <a:tc>
                  <a:txBody>
                    <a:bodyPr/>
                    <a:lstStyle/>
                    <a:p>
                      <a:r>
                        <a:rPr lang="en-US" sz="1000"/>
                        <a:t>Medium - tech debt</a:t>
                      </a:r>
                    </a:p>
                  </a:txBody>
                  <a:tcPr>
                    <a:solidFill>
                      <a:srgbClr val="F2F2F2"/>
                    </a:solidFill>
                  </a:tcPr>
                </a:tc>
                <a:tc>
                  <a:txBody>
                    <a:bodyPr/>
                    <a:lstStyle/>
                    <a:p>
                      <a:r>
                        <a:rPr lang="en-US" sz="1000"/>
                        <a:t>Comprehensive analysis</a:t>
                      </a:r>
                    </a:p>
                  </a:txBody>
                  <a:tcPr>
                    <a:solidFill>
                      <a:srgbClr val="F2F2F2"/>
                    </a:solidFill>
                  </a:tcPr>
                </a:tc>
                <a:tc>
                  <a:txBody>
                    <a:bodyPr/>
                    <a:lstStyle/>
                    <a:p>
                      <a:r>
                        <a:rPr lang="en-US" sz="1000"/>
                        <a:t>Cursor/Windsurf</a:t>
                      </a:r>
                    </a:p>
                  </a:txBody>
                  <a:tcPr>
                    <a:solidFill>
                      <a:srgbClr val="F2F2F2"/>
                    </a:solidFill>
                  </a:tcPr>
                </a:tc>
                <a:extLst>
                  <a:ext uri="{0D108BD9-81ED-4DB2-BD59-A6C34878D82A}">
                    <a16:rowId xmlns:a16="http://schemas.microsoft.com/office/drawing/2014/main" val="2170603789"/>
                  </a:ext>
                </a:extLst>
              </a:tr>
              <a:tr h="740833">
                <a:tc>
                  <a:txBody>
                    <a:bodyPr/>
                    <a:lstStyle/>
                    <a:p>
                      <a:r>
                        <a:rPr lang="en-US" sz="1000"/>
                        <a:t>Learning curve</a:t>
                      </a:r>
                    </a:p>
                  </a:txBody>
                  <a:tcPr/>
                </a:tc>
                <a:tc>
                  <a:txBody>
                    <a:bodyPr/>
                    <a:lstStyle/>
                    <a:p>
                      <a:r>
                        <a:rPr lang="en-US" sz="1000"/>
                        <a:t>Low - productivity</a:t>
                      </a:r>
                    </a:p>
                  </a:txBody>
                  <a:tcPr/>
                </a:tc>
                <a:tc>
                  <a:txBody>
                    <a:bodyPr/>
                    <a:lstStyle/>
                    <a:p>
                      <a:r>
                        <a:rPr lang="en-US" sz="1000"/>
                        <a:t>Start with easiest tool</a:t>
                      </a:r>
                    </a:p>
                  </a:txBody>
                  <a:tcPr/>
                </a:tc>
                <a:tc>
                  <a:txBody>
                    <a:bodyPr/>
                    <a:lstStyle/>
                    <a:p>
                      <a:r>
                        <a:rPr lang="en-US" sz="1000"/>
                        <a:t>Copilot/Claude</a:t>
                      </a:r>
                    </a:p>
                  </a:txBody>
                  <a:tcPr/>
                </a:tc>
                <a:extLst>
                  <a:ext uri="{0D108BD9-81ED-4DB2-BD59-A6C34878D82A}">
                    <a16:rowId xmlns:a16="http://schemas.microsoft.com/office/drawing/2014/main" val="3322957562"/>
                  </a:ext>
                </a:extLst>
              </a:tr>
              <a:tr h="740833">
                <a:tc>
                  <a:txBody>
                    <a:bodyPr/>
                    <a:lstStyle/>
                    <a:p>
                      <a:r>
                        <a:rPr lang="en-US" sz="1000"/>
                        <a:t>Vendor lock-in</a:t>
                      </a:r>
                    </a:p>
                  </a:txBody>
                  <a:tcPr>
                    <a:solidFill>
                      <a:srgbClr val="F2F2F2"/>
                    </a:solidFill>
                  </a:tcPr>
                </a:tc>
                <a:tc>
                  <a:txBody>
                    <a:bodyPr/>
                    <a:lstStyle/>
                    <a:p>
                      <a:r>
                        <a:rPr lang="en-US" sz="1000"/>
                        <a:t>Medium - flexibility</a:t>
                      </a:r>
                    </a:p>
                  </a:txBody>
                  <a:tcPr>
                    <a:solidFill>
                      <a:srgbClr val="F2F2F2"/>
                    </a:solidFill>
                  </a:tcPr>
                </a:tc>
                <a:tc>
                  <a:txBody>
                    <a:bodyPr/>
                    <a:lstStyle/>
                    <a:p>
                      <a:r>
                        <a:rPr lang="en-US" sz="1000"/>
                        <a:t>Multi-model support</a:t>
                      </a:r>
                    </a:p>
                  </a:txBody>
                  <a:tcPr>
                    <a:solidFill>
                      <a:srgbClr val="F2F2F2"/>
                    </a:solidFill>
                  </a:tcPr>
                </a:tc>
                <a:tc>
                  <a:txBody>
                    <a:bodyPr/>
                    <a:lstStyle/>
                    <a:p>
                      <a:r>
                        <a:rPr lang="en-US" sz="1000"/>
                        <a:t>Any modern tool</a:t>
                      </a:r>
                    </a:p>
                  </a:txBody>
                  <a:tcPr>
                    <a:solidFill>
                      <a:srgbClr val="F2F2F2"/>
                    </a:solidFill>
                  </a:tcPr>
                </a:tc>
                <a:extLst>
                  <a:ext uri="{0D108BD9-81ED-4DB2-BD59-A6C34878D82A}">
                    <a16:rowId xmlns:a16="http://schemas.microsoft.com/office/drawing/2014/main" val="3141145999"/>
                  </a:ext>
                </a:extLst>
              </a:tr>
            </a:tbl>
          </a:graphicData>
        </a:graphic>
      </p:graphicFrame>
      <p:sp>
        <p:nvSpPr>
          <p:cNvPr id="4" name="TextBox 3">
            <a:extLst>
              <a:ext uri="{FF2B5EF4-FFF2-40B4-BE49-F238E27FC236}">
                <a16:creationId xmlns:a16="http://schemas.microsoft.com/office/drawing/2014/main" id="{77037622-B842-443D-D3F1-79D50787E121}"/>
              </a:ext>
            </a:extLst>
          </p:cNvPr>
          <p:cNvSpPr txBox="1"/>
          <p:nvPr/>
        </p:nvSpPr>
        <p:spPr>
          <a:xfrm>
            <a:off x="508000" y="5715000"/>
            <a:ext cx="11176000" cy="292388"/>
          </a:xfrm>
          <a:prstGeom prst="rect">
            <a:avLst/>
          </a:prstGeom>
          <a:noFill/>
        </p:spPr>
        <p:txBody>
          <a:bodyPr vert="horz" wrap="square" lIns="127000" rIns="127000" rtlCol="0">
            <a:noAutofit/>
          </a:bodyPr>
          <a:lstStyle/>
          <a:p>
            <a:r>
              <a:rPr lang="en-US" sz="1300" b="1">
                <a:solidFill>
                  <a:srgbClr val="00B050"/>
                </a:solidFill>
              </a:rPr>
              <a:t>Overall Risk: LOW when matched to appropriate use case</a:t>
            </a:r>
          </a:p>
        </p:txBody>
      </p:sp>
    </p:spTree>
    <p:extLst>
      <p:ext uri="{BB962C8B-B14F-4D97-AF65-F5344CB8AC3E}">
        <p14:creationId xmlns:p14="http://schemas.microsoft.com/office/powerpoint/2010/main" val="29235748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CCBECF-2CCF-6778-306F-EB55EE349B58}"/>
              </a:ext>
            </a:extLst>
          </p:cNvPr>
          <p:cNvSpPr txBox="1"/>
          <p:nvPr/>
        </p:nvSpPr>
        <p:spPr>
          <a:xfrm>
            <a:off x="508000" y="190500"/>
            <a:ext cx="11176000" cy="584775"/>
          </a:xfrm>
          <a:prstGeom prst="rect">
            <a:avLst/>
          </a:prstGeom>
          <a:noFill/>
        </p:spPr>
        <p:txBody>
          <a:bodyPr vert="horz" wrap="square" lIns="127000" rIns="127000" rtlCol="0">
            <a:noAutofit/>
          </a:bodyPr>
          <a:lstStyle/>
          <a:p>
            <a:r>
              <a:rPr lang="en-US" sz="3200" b="1">
                <a:solidFill>
                  <a:srgbClr val="000080"/>
                </a:solidFill>
              </a:rPr>
              <a:t>Implementation Roadmap</a:t>
            </a:r>
          </a:p>
        </p:txBody>
      </p:sp>
      <p:sp>
        <p:nvSpPr>
          <p:cNvPr id="3" name="TextBox 2">
            <a:extLst>
              <a:ext uri="{FF2B5EF4-FFF2-40B4-BE49-F238E27FC236}">
                <a16:creationId xmlns:a16="http://schemas.microsoft.com/office/drawing/2014/main" id="{1FB52B8C-83B2-AF6D-6ED5-764448934F4D}"/>
              </a:ext>
            </a:extLst>
          </p:cNvPr>
          <p:cNvSpPr txBox="1"/>
          <p:nvPr/>
        </p:nvSpPr>
        <p:spPr>
          <a:xfrm>
            <a:off x="508000" y="1016000"/>
            <a:ext cx="11176000" cy="381000"/>
          </a:xfrm>
          <a:prstGeom prst="rect">
            <a:avLst/>
          </a:prstGeom>
          <a:noFill/>
        </p:spPr>
        <p:txBody>
          <a:bodyPr vert="horz" wrap="square" lIns="127000" rIns="127000" rtlCol="0">
            <a:noAutofit/>
          </a:bodyPr>
          <a:lstStyle/>
          <a:p>
            <a:r>
              <a:rPr lang="en-US" b="1">
                <a:solidFill>
                  <a:srgbClr val="000080"/>
                </a:solidFill>
              </a:rPr>
              <a:t>Phase 1: Pilot (Month 1-2) -  investment</a:t>
            </a:r>
          </a:p>
        </p:txBody>
      </p:sp>
      <p:sp>
        <p:nvSpPr>
          <p:cNvPr id="4" name="TextBox 3">
            <a:extLst>
              <a:ext uri="{FF2B5EF4-FFF2-40B4-BE49-F238E27FC236}">
                <a16:creationId xmlns:a16="http://schemas.microsoft.com/office/drawing/2014/main" id="{DCFBBCC0-B47B-215D-2ACB-E8661223E159}"/>
              </a:ext>
            </a:extLst>
          </p:cNvPr>
          <p:cNvSpPr txBox="1"/>
          <p:nvPr/>
        </p:nvSpPr>
        <p:spPr>
          <a:xfrm>
            <a:off x="762000" y="1460500"/>
            <a:ext cx="10668000" cy="738664"/>
          </a:xfrm>
          <a:prstGeom prst="rect">
            <a:avLst/>
          </a:prstGeom>
          <a:noFill/>
        </p:spPr>
        <p:txBody>
          <a:bodyPr vert="horz" wrap="square" lIns="127000" rIns="127000" rtlCol="0">
            <a:noAutofit/>
          </a:bodyPr>
          <a:lstStyle/>
          <a:p>
            <a:r>
              <a:rPr lang="en-US" sz="1400">
                <a:solidFill>
                  <a:srgbClr val="000000"/>
                </a:solidFill>
              </a:rPr>
              <a:t>â€¢ Select 3-5 developers, 1 legacy project
â€¢ Deploy Cursor or Windsurf for large app, Copilot for small
â€¢ Measure: velocity, code quality, developer satisfaction</a:t>
            </a:r>
          </a:p>
        </p:txBody>
      </p:sp>
      <p:sp>
        <p:nvSpPr>
          <p:cNvPr id="5" name="TextBox 4">
            <a:extLst>
              <a:ext uri="{FF2B5EF4-FFF2-40B4-BE49-F238E27FC236}">
                <a16:creationId xmlns:a16="http://schemas.microsoft.com/office/drawing/2014/main" id="{D06C9003-A299-EBE2-EF29-3CDEA69EEFEE}"/>
              </a:ext>
            </a:extLst>
          </p:cNvPr>
          <p:cNvSpPr txBox="1"/>
          <p:nvPr/>
        </p:nvSpPr>
        <p:spPr>
          <a:xfrm>
            <a:off x="508000" y="2413000"/>
            <a:ext cx="11176000" cy="381000"/>
          </a:xfrm>
          <a:prstGeom prst="rect">
            <a:avLst/>
          </a:prstGeom>
          <a:noFill/>
        </p:spPr>
        <p:txBody>
          <a:bodyPr vert="horz" wrap="square" lIns="127000" rIns="127000" rtlCol="0">
            <a:noAutofit/>
          </a:bodyPr>
          <a:lstStyle/>
          <a:p>
            <a:r>
              <a:rPr lang="en-US" b="1">
                <a:solidFill>
                  <a:srgbClr val="FFCC00"/>
                </a:solidFill>
              </a:rPr>
              <a:t>Phase 2: Expand (Month 3-4) -  investment</a:t>
            </a:r>
          </a:p>
        </p:txBody>
      </p:sp>
      <p:sp>
        <p:nvSpPr>
          <p:cNvPr id="6" name="TextBox 5">
            <a:extLst>
              <a:ext uri="{FF2B5EF4-FFF2-40B4-BE49-F238E27FC236}">
                <a16:creationId xmlns:a16="http://schemas.microsoft.com/office/drawing/2014/main" id="{A92EC05B-C882-3B05-6D2C-025E7B879430}"/>
              </a:ext>
            </a:extLst>
          </p:cNvPr>
          <p:cNvSpPr txBox="1"/>
          <p:nvPr/>
        </p:nvSpPr>
        <p:spPr>
          <a:xfrm>
            <a:off x="762000" y="2857500"/>
            <a:ext cx="10668000" cy="738664"/>
          </a:xfrm>
          <a:prstGeom prst="rect">
            <a:avLst/>
          </a:prstGeom>
          <a:noFill/>
        </p:spPr>
        <p:txBody>
          <a:bodyPr vert="horz" wrap="square" lIns="127000" rIns="127000" rtlCol="0">
            <a:noAutofit/>
          </a:bodyPr>
          <a:lstStyle/>
          <a:p>
            <a:r>
              <a:rPr lang="en-US" sz="1400">
                <a:solidFill>
                  <a:srgbClr val="000000"/>
                </a:solidFill>
              </a:rPr>
              <a:t>â€¢ Roll out to full modernization team (10-15 developers)
â€¢ Establish best practices and training
â€¢ Measure: project timeline acceleration, defect rates</a:t>
            </a:r>
          </a:p>
        </p:txBody>
      </p:sp>
      <p:sp>
        <p:nvSpPr>
          <p:cNvPr id="7" name="TextBox 6">
            <a:extLst>
              <a:ext uri="{FF2B5EF4-FFF2-40B4-BE49-F238E27FC236}">
                <a16:creationId xmlns:a16="http://schemas.microsoft.com/office/drawing/2014/main" id="{04FBA3CD-4859-82B8-20C2-DB1874C34807}"/>
              </a:ext>
            </a:extLst>
          </p:cNvPr>
          <p:cNvSpPr txBox="1"/>
          <p:nvPr/>
        </p:nvSpPr>
        <p:spPr>
          <a:xfrm>
            <a:off x="508000" y="3810000"/>
            <a:ext cx="11176000" cy="381000"/>
          </a:xfrm>
          <a:prstGeom prst="rect">
            <a:avLst/>
          </a:prstGeom>
          <a:noFill/>
        </p:spPr>
        <p:txBody>
          <a:bodyPr vert="horz" wrap="square" lIns="127000" rIns="127000" rtlCol="0">
            <a:noAutofit/>
          </a:bodyPr>
          <a:lstStyle/>
          <a:p>
            <a:r>
              <a:rPr lang="en-US" b="1">
                <a:solidFill>
                  <a:srgbClr val="00B050"/>
                </a:solidFill>
              </a:rPr>
              <a:t>Phase 3: Scale (Month 5-6) -  investment</a:t>
            </a:r>
          </a:p>
        </p:txBody>
      </p:sp>
      <p:sp>
        <p:nvSpPr>
          <p:cNvPr id="8" name="TextBox 7">
            <a:extLst>
              <a:ext uri="{FF2B5EF4-FFF2-40B4-BE49-F238E27FC236}">
                <a16:creationId xmlns:a16="http://schemas.microsoft.com/office/drawing/2014/main" id="{B6E4F5ED-77E2-A4DC-FBD0-808B6CC7A189}"/>
              </a:ext>
            </a:extLst>
          </p:cNvPr>
          <p:cNvSpPr txBox="1"/>
          <p:nvPr/>
        </p:nvSpPr>
        <p:spPr>
          <a:xfrm>
            <a:off x="762000" y="4254500"/>
            <a:ext cx="10668000" cy="738664"/>
          </a:xfrm>
          <a:prstGeom prst="rect">
            <a:avLst/>
          </a:prstGeom>
          <a:noFill/>
        </p:spPr>
        <p:txBody>
          <a:bodyPr vert="horz" wrap="square" lIns="127000" rIns="127000" rtlCol="0">
            <a:noAutofit/>
          </a:bodyPr>
          <a:lstStyle/>
          <a:p>
            <a:r>
              <a:rPr lang="en-US" sz="1400">
                <a:solidFill>
                  <a:srgbClr val="000000"/>
                </a:solidFill>
              </a:rPr>
              <a:t>â€¢ Deploy organization-wide (50+ developers)
â€¢ Integrate with CI/CD pipelines
â€¢ Measure: ROI, time-to-market improvement, cost savings</a:t>
            </a:r>
          </a:p>
        </p:txBody>
      </p:sp>
      <p:sp>
        <p:nvSpPr>
          <p:cNvPr id="9" name="TextBox 8">
            <a:extLst>
              <a:ext uri="{FF2B5EF4-FFF2-40B4-BE49-F238E27FC236}">
                <a16:creationId xmlns:a16="http://schemas.microsoft.com/office/drawing/2014/main" id="{B4FBCF82-7ED6-B5F0-E398-6321A39042FC}"/>
              </a:ext>
            </a:extLst>
          </p:cNvPr>
          <p:cNvSpPr txBox="1"/>
          <p:nvPr/>
        </p:nvSpPr>
        <p:spPr>
          <a:xfrm>
            <a:off x="508000" y="5207000"/>
            <a:ext cx="11176000" cy="1246495"/>
          </a:xfrm>
          <a:prstGeom prst="rect">
            <a:avLst/>
          </a:prstGeom>
          <a:noFill/>
        </p:spPr>
        <p:txBody>
          <a:bodyPr vert="horz" wrap="square" lIns="127000" rIns="127000" rtlCol="0">
            <a:noAutofit/>
          </a:bodyPr>
          <a:lstStyle/>
          <a:p>
            <a:r>
              <a:rPr lang="en-US" sz="1500" b="1">
                <a:solidFill>
                  <a:srgbClr val="00B050"/>
                </a:solidFill>
              </a:rPr>
              <a:t>Success Metrics:
â€¢ 30-40% reduction in modernization timeline
â€¢ 50% reduction in cross-module bugs
â€¢ 90%+ developer satisfaction
â€¢ Payback achieved by Month 6</a:t>
            </a:r>
          </a:p>
        </p:txBody>
      </p:sp>
    </p:spTree>
    <p:extLst>
      <p:ext uri="{BB962C8B-B14F-4D97-AF65-F5344CB8AC3E}">
        <p14:creationId xmlns:p14="http://schemas.microsoft.com/office/powerpoint/2010/main" val="39598939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AC0F0D8-78C2-86E0-07C8-8D6E22D4CB22}"/>
              </a:ext>
            </a:extLst>
          </p:cNvPr>
          <p:cNvSpPr txBox="1"/>
          <p:nvPr/>
        </p:nvSpPr>
        <p:spPr>
          <a:xfrm>
            <a:off x="508000" y="190500"/>
            <a:ext cx="11176000" cy="523220"/>
          </a:xfrm>
          <a:prstGeom prst="rect">
            <a:avLst/>
          </a:prstGeom>
          <a:noFill/>
        </p:spPr>
        <p:txBody>
          <a:bodyPr vert="horz" wrap="square" lIns="127000" rIns="127000" rtlCol="0">
            <a:noAutofit/>
          </a:bodyPr>
          <a:lstStyle/>
          <a:p>
            <a:r>
              <a:rPr lang="en-US" sz="2800" b="1">
                <a:solidFill>
                  <a:srgbClr val="000080"/>
                </a:solidFill>
              </a:rPr>
              <a:t>Security &amp; Compliance Considerations</a:t>
            </a:r>
          </a:p>
        </p:txBody>
      </p:sp>
      <p:sp>
        <p:nvSpPr>
          <p:cNvPr id="3" name="TextBox 2">
            <a:extLst>
              <a:ext uri="{FF2B5EF4-FFF2-40B4-BE49-F238E27FC236}">
                <a16:creationId xmlns:a16="http://schemas.microsoft.com/office/drawing/2014/main" id="{DE1CF1E9-2DBB-062B-2473-014870586A94}"/>
              </a:ext>
            </a:extLst>
          </p:cNvPr>
          <p:cNvSpPr txBox="1"/>
          <p:nvPr/>
        </p:nvSpPr>
        <p:spPr>
          <a:xfrm>
            <a:off x="508000" y="889000"/>
            <a:ext cx="11176000" cy="3785652"/>
          </a:xfrm>
          <a:prstGeom prst="rect">
            <a:avLst/>
          </a:prstGeom>
          <a:noFill/>
        </p:spPr>
        <p:txBody>
          <a:bodyPr vert="horz" wrap="square" lIns="127000" rIns="127000" rtlCol="0">
            <a:noAutofit/>
          </a:bodyPr>
          <a:lstStyle/>
          <a:p>
            <a:pPr indent="-285750">
              <a:buChar char="•"/>
            </a:pPr>
            <a:r>
              <a:rPr lang="en-US" sz="1500"/>
              <a:t>Data Privacy:
All cloud tools (Copilot, Cursor, Windsurf, Claude) send code to cloud
Cline can run fully air-gapped (no data leaves network)
Compliance:
SOC 2 Type II: GitHub Copilot, Cursor (Business)
GDPR compliant: All tools
HIPAA/FedRAMP: Use Cline with air-gapped deployment
Intellectual Property:
All vendors commit to not training on customer code
Enterprise agreements include IP protection clauses
Recommendation:
For most organizations: Standard cloud tools are secure
For banking/healthcare/government: Evaluate Cline for air-gapped option</a:t>
            </a:r>
          </a:p>
        </p:txBody>
      </p:sp>
    </p:spTree>
    <p:extLst>
      <p:ext uri="{BB962C8B-B14F-4D97-AF65-F5344CB8AC3E}">
        <p14:creationId xmlns:p14="http://schemas.microsoft.com/office/powerpoint/2010/main" val="40383392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F4C3E4-C972-F64D-B744-8BBE21C602F9}"/>
              </a:ext>
            </a:extLst>
          </p:cNvPr>
          <p:cNvSpPr txBox="1"/>
          <p:nvPr/>
        </p:nvSpPr>
        <p:spPr>
          <a:xfrm>
            <a:off x="508000" y="190500"/>
            <a:ext cx="11176000" cy="523220"/>
          </a:xfrm>
          <a:prstGeom prst="rect">
            <a:avLst/>
          </a:prstGeom>
          <a:noFill/>
        </p:spPr>
        <p:txBody>
          <a:bodyPr vert="horz" wrap="square" lIns="127000" rIns="127000" rtlCol="0">
            <a:noAutofit/>
          </a:bodyPr>
          <a:lstStyle/>
          <a:p>
            <a:r>
              <a:rPr lang="en-US" sz="2800" b="1">
                <a:solidFill>
                  <a:srgbClr val="000080"/>
                </a:solidFill>
              </a:rPr>
              <a:t>Competitive Landscape &amp; Market Position</a:t>
            </a:r>
          </a:p>
        </p:txBody>
      </p:sp>
      <p:graphicFrame>
        <p:nvGraphicFramePr>
          <p:cNvPr id="3" name="Table 2">
            <a:extLst>
              <a:ext uri="{FF2B5EF4-FFF2-40B4-BE49-F238E27FC236}">
                <a16:creationId xmlns:a16="http://schemas.microsoft.com/office/drawing/2014/main" id="{458DA9C2-B7EA-20D1-27E9-CAB666028081}"/>
              </a:ext>
            </a:extLst>
          </p:cNvPr>
          <p:cNvGraphicFramePr>
            <a:graphicFrameLocks noGrp="1"/>
          </p:cNvGraphicFramePr>
          <p:nvPr>
            <p:extLst>
              <p:ext uri="{D42A27DB-BD31-4B8C-83A1-F6EECF244321}">
                <p14:modId xmlns:p14="http://schemas.microsoft.com/office/powerpoint/2010/main" val="2407569870"/>
              </p:ext>
            </p:extLst>
          </p:nvPr>
        </p:nvGraphicFramePr>
        <p:xfrm>
          <a:off x="508000" y="1016000"/>
          <a:ext cx="11176000" cy="4445000"/>
        </p:xfrm>
        <a:graphic>
          <a:graphicData uri="http://schemas.openxmlformats.org/drawingml/2006/table">
            <a:tbl>
              <a:tblPr firstRow="1" bandRow="1">
                <a:tableStyleId>{5C22544A-7EE6-4342-B048-85BDC9FD1C3A}</a:tableStyleId>
              </a:tblPr>
              <a:tblGrid>
                <a:gridCol w="2235200">
                  <a:extLst>
                    <a:ext uri="{9D8B030D-6E8A-4147-A177-3AD203B41FA5}">
                      <a16:colId xmlns:a16="http://schemas.microsoft.com/office/drawing/2014/main" val="160510235"/>
                    </a:ext>
                  </a:extLst>
                </a:gridCol>
                <a:gridCol w="2235200">
                  <a:extLst>
                    <a:ext uri="{9D8B030D-6E8A-4147-A177-3AD203B41FA5}">
                      <a16:colId xmlns:a16="http://schemas.microsoft.com/office/drawing/2014/main" val="2459265714"/>
                    </a:ext>
                  </a:extLst>
                </a:gridCol>
                <a:gridCol w="2235200">
                  <a:extLst>
                    <a:ext uri="{9D8B030D-6E8A-4147-A177-3AD203B41FA5}">
                      <a16:colId xmlns:a16="http://schemas.microsoft.com/office/drawing/2014/main" val="3369260789"/>
                    </a:ext>
                  </a:extLst>
                </a:gridCol>
                <a:gridCol w="2235200">
                  <a:extLst>
                    <a:ext uri="{9D8B030D-6E8A-4147-A177-3AD203B41FA5}">
                      <a16:colId xmlns:a16="http://schemas.microsoft.com/office/drawing/2014/main" val="1873183890"/>
                    </a:ext>
                  </a:extLst>
                </a:gridCol>
                <a:gridCol w="2235200">
                  <a:extLst>
                    <a:ext uri="{9D8B030D-6E8A-4147-A177-3AD203B41FA5}">
                      <a16:colId xmlns:a16="http://schemas.microsoft.com/office/drawing/2014/main" val="1567307194"/>
                    </a:ext>
                  </a:extLst>
                </a:gridCol>
              </a:tblGrid>
              <a:tr h="635000">
                <a:tc>
                  <a:txBody>
                    <a:bodyPr/>
                    <a:lstStyle/>
                    <a:p>
                      <a:r>
                        <a:rPr lang="en-US" sz="1200" b="1">
                          <a:solidFill>
                            <a:srgbClr val="FFFFFF"/>
                          </a:solidFill>
                        </a:rPr>
                        <a:t>Factor</a:t>
                      </a:r>
                    </a:p>
                  </a:txBody>
                  <a:tcPr>
                    <a:solidFill>
                      <a:srgbClr val="000080"/>
                    </a:solidFill>
                  </a:tcPr>
                </a:tc>
                <a:tc>
                  <a:txBody>
                    <a:bodyPr/>
                    <a:lstStyle/>
                    <a:p>
                      <a:r>
                        <a:rPr lang="en-US" sz="1200" b="1">
                          <a:solidFill>
                            <a:srgbClr val="FFFFFF"/>
                          </a:solidFill>
                        </a:rPr>
                        <a:t>Market Leader</a:t>
                      </a:r>
                    </a:p>
                  </a:txBody>
                  <a:tcPr>
                    <a:solidFill>
                      <a:srgbClr val="000080"/>
                    </a:solidFill>
                  </a:tcPr>
                </a:tc>
                <a:tc>
                  <a:txBody>
                    <a:bodyPr/>
                    <a:lstStyle/>
                    <a:p>
                      <a:r>
                        <a:rPr lang="en-US" sz="1200" b="1">
                          <a:solidFill>
                            <a:srgbClr val="FFFFFF"/>
                          </a:solidFill>
                        </a:rPr>
                        <a:t>Best Value</a:t>
                      </a:r>
                    </a:p>
                  </a:txBody>
                  <a:tcPr>
                    <a:solidFill>
                      <a:srgbClr val="000080"/>
                    </a:solidFill>
                  </a:tcPr>
                </a:tc>
                <a:tc>
                  <a:txBody>
                    <a:bodyPr/>
                    <a:lstStyle/>
                    <a:p>
                      <a:r>
                        <a:rPr lang="en-US" sz="1200" b="1">
                          <a:solidFill>
                            <a:srgbClr val="FFFFFF"/>
                          </a:solidFill>
                        </a:rPr>
                        <a:t>Most Secure</a:t>
                      </a:r>
                    </a:p>
                  </a:txBody>
                  <a:tcPr>
                    <a:solidFill>
                      <a:srgbClr val="000080"/>
                    </a:solidFill>
                  </a:tcPr>
                </a:tc>
                <a:tc>
                  <a:txBody>
                    <a:bodyPr/>
                    <a:lstStyle/>
                    <a:p>
                      <a:r>
                        <a:rPr lang="en-US" sz="1200" b="1">
                          <a:solidFill>
                            <a:srgbClr val="FFFFFF"/>
                          </a:solidFill>
                        </a:rPr>
                        <a:t>Fastest</a:t>
                      </a:r>
                    </a:p>
                  </a:txBody>
                  <a:tcPr>
                    <a:solidFill>
                      <a:srgbClr val="000080"/>
                    </a:solidFill>
                  </a:tcPr>
                </a:tc>
                <a:extLst>
                  <a:ext uri="{0D108BD9-81ED-4DB2-BD59-A6C34878D82A}">
                    <a16:rowId xmlns:a16="http://schemas.microsoft.com/office/drawing/2014/main" val="2608155552"/>
                  </a:ext>
                </a:extLst>
              </a:tr>
              <a:tr h="635000">
                <a:tc>
                  <a:txBody>
                    <a:bodyPr/>
                    <a:lstStyle/>
                    <a:p>
                      <a:r>
                        <a:rPr lang="en-US" sz="1000"/>
                        <a:t>Tool</a:t>
                      </a:r>
                    </a:p>
                  </a:txBody>
                  <a:tcPr>
                    <a:solidFill>
                      <a:srgbClr val="F2F2F2"/>
                    </a:solidFill>
                  </a:tcPr>
                </a:tc>
                <a:tc>
                  <a:txBody>
                    <a:bodyPr/>
                    <a:lstStyle/>
                    <a:p>
                      <a:r>
                        <a:rPr lang="en-US" sz="1000"/>
                        <a:t>Cursor</a:t>
                      </a:r>
                    </a:p>
                  </a:txBody>
                  <a:tcPr>
                    <a:solidFill>
                      <a:srgbClr val="F2F2F2"/>
                    </a:solidFill>
                  </a:tcPr>
                </a:tc>
                <a:tc>
                  <a:txBody>
                    <a:bodyPr/>
                    <a:lstStyle/>
                    <a:p>
                      <a:r>
                        <a:rPr lang="en-US" sz="1000"/>
                        <a:t>Windsurf IDE</a:t>
                      </a:r>
                    </a:p>
                  </a:txBody>
                  <a:tcPr>
                    <a:solidFill>
                      <a:srgbClr val="F2F2F2"/>
                    </a:solidFill>
                  </a:tcPr>
                </a:tc>
                <a:tc>
                  <a:txBody>
                    <a:bodyPr/>
                    <a:lstStyle/>
                    <a:p>
                      <a:r>
                        <a:rPr lang="en-US" sz="1000"/>
                        <a:t>Cline</a:t>
                      </a:r>
                    </a:p>
                  </a:txBody>
                  <a:tcPr>
                    <a:solidFill>
                      <a:srgbClr val="F2F2F2"/>
                    </a:solidFill>
                  </a:tcPr>
                </a:tc>
                <a:tc>
                  <a:txBody>
                    <a:bodyPr/>
                    <a:lstStyle/>
                    <a:p>
                      <a:r>
                        <a:rPr lang="en-US" sz="1000"/>
                        <a:t>GitHub Copilot</a:t>
                      </a:r>
                    </a:p>
                  </a:txBody>
                  <a:tcPr>
                    <a:solidFill>
                      <a:srgbClr val="F2F2F2"/>
                    </a:solidFill>
                  </a:tcPr>
                </a:tc>
                <a:extLst>
                  <a:ext uri="{0D108BD9-81ED-4DB2-BD59-A6C34878D82A}">
                    <a16:rowId xmlns:a16="http://schemas.microsoft.com/office/drawing/2014/main" val="2636601516"/>
                  </a:ext>
                </a:extLst>
              </a:tr>
              <a:tr h="635000">
                <a:tc>
                  <a:txBody>
                    <a:bodyPr/>
                    <a:lstStyle/>
                    <a:p>
                      <a:r>
                        <a:rPr lang="en-US" sz="1000"/>
                        <a:t>Market share</a:t>
                      </a:r>
                    </a:p>
                  </a:txBody>
                  <a:tcPr/>
                </a:tc>
                <a:tc>
                  <a:txBody>
                    <a:bodyPr/>
                    <a:lstStyle/>
                    <a:p>
                      <a:r>
                        <a:rPr lang="en-US" sz="1000"/>
                        <a:t>Growing fast</a:t>
                      </a:r>
                    </a:p>
                  </a:txBody>
                  <a:tcPr/>
                </a:tc>
                <a:tc>
                  <a:txBody>
                    <a:bodyPr/>
                    <a:lstStyle/>
                    <a:p>
                      <a:r>
                        <a:rPr lang="en-US" sz="1000"/>
                        <a:t>Emerging</a:t>
                      </a:r>
                    </a:p>
                  </a:txBody>
                  <a:tcPr/>
                </a:tc>
                <a:tc>
                  <a:txBody>
                    <a:bodyPr/>
                    <a:lstStyle/>
                    <a:p>
                      <a:r>
                        <a:rPr lang="en-US" sz="1000"/>
                        <a:t>Niche</a:t>
                      </a:r>
                    </a:p>
                  </a:txBody>
                  <a:tcPr/>
                </a:tc>
                <a:tc>
                  <a:txBody>
                    <a:bodyPr/>
                    <a:lstStyle/>
                    <a:p>
                      <a:r>
                        <a:rPr lang="en-US" sz="1000"/>
                        <a:t>Largest</a:t>
                      </a:r>
                    </a:p>
                  </a:txBody>
                  <a:tcPr/>
                </a:tc>
                <a:extLst>
                  <a:ext uri="{0D108BD9-81ED-4DB2-BD59-A6C34878D82A}">
                    <a16:rowId xmlns:a16="http://schemas.microsoft.com/office/drawing/2014/main" val="883280736"/>
                  </a:ext>
                </a:extLst>
              </a:tr>
              <a:tr h="635000">
                <a:tc>
                  <a:txBody>
                    <a:bodyPr/>
                    <a:lstStyle/>
                    <a:p>
                      <a:r>
                        <a:rPr lang="en-US" sz="1000"/>
                        <a:t>Enterprise adoption</a:t>
                      </a:r>
                    </a:p>
                  </a:txBody>
                  <a:tcPr>
                    <a:solidFill>
                      <a:srgbClr val="F2F2F2"/>
                    </a:solidFill>
                  </a:tcPr>
                </a:tc>
                <a:tc>
                  <a:txBody>
                    <a:bodyPr/>
                    <a:lstStyle/>
                    <a:p>
                      <a:r>
                        <a:rPr lang="en-US" sz="1000"/>
                        <a:t>High (startups)</a:t>
                      </a:r>
                    </a:p>
                  </a:txBody>
                  <a:tcPr>
                    <a:solidFill>
                      <a:srgbClr val="F2F2F2"/>
                    </a:solidFill>
                  </a:tcPr>
                </a:tc>
                <a:tc>
                  <a:txBody>
                    <a:bodyPr/>
                    <a:lstStyle/>
                    <a:p>
                      <a:r>
                        <a:rPr lang="en-US" sz="1000"/>
                        <a:t>Growing</a:t>
                      </a:r>
                    </a:p>
                  </a:txBody>
                  <a:tcPr>
                    <a:solidFill>
                      <a:srgbClr val="F2F2F2"/>
                    </a:solidFill>
                  </a:tcPr>
                </a:tc>
                <a:tc>
                  <a:txBody>
                    <a:bodyPr/>
                    <a:lstStyle/>
                    <a:p>
                      <a:r>
                        <a:rPr lang="en-US" sz="1000"/>
                        <a:t>Regulated only</a:t>
                      </a:r>
                    </a:p>
                  </a:txBody>
                  <a:tcPr>
                    <a:solidFill>
                      <a:srgbClr val="F2F2F2"/>
                    </a:solidFill>
                  </a:tcPr>
                </a:tc>
                <a:tc>
                  <a:txBody>
                    <a:bodyPr/>
                    <a:lstStyle/>
                    <a:p>
                      <a:r>
                        <a:rPr lang="en-US" sz="1000"/>
                        <a:t>Very High</a:t>
                      </a:r>
                    </a:p>
                  </a:txBody>
                  <a:tcPr>
                    <a:solidFill>
                      <a:srgbClr val="F2F2F2"/>
                    </a:solidFill>
                  </a:tcPr>
                </a:tc>
                <a:extLst>
                  <a:ext uri="{0D108BD9-81ED-4DB2-BD59-A6C34878D82A}">
                    <a16:rowId xmlns:a16="http://schemas.microsoft.com/office/drawing/2014/main" val="1100288379"/>
                  </a:ext>
                </a:extLst>
              </a:tr>
              <a:tr h="635000">
                <a:tc>
                  <a:txBody>
                    <a:bodyPr/>
                    <a:lstStyle/>
                    <a:p>
                      <a:r>
                        <a:rPr lang="en-US" sz="1000"/>
                        <a:t>Innovation pace</a:t>
                      </a:r>
                    </a:p>
                  </a:txBody>
                  <a:tcPr/>
                </a:tc>
                <a:tc>
                  <a:txBody>
                    <a:bodyPr/>
                    <a:lstStyle/>
                    <a:p>
                      <a:r>
                        <a:rPr lang="en-US" sz="1000"/>
                        <a:t>Very High</a:t>
                      </a:r>
                    </a:p>
                  </a:txBody>
                  <a:tcPr/>
                </a:tc>
                <a:tc>
                  <a:txBody>
                    <a:bodyPr/>
                    <a:lstStyle/>
                    <a:p>
                      <a:r>
                        <a:rPr lang="en-US" sz="1000"/>
                        <a:t>High</a:t>
                      </a:r>
                    </a:p>
                  </a:txBody>
                  <a:tcPr/>
                </a:tc>
                <a:tc>
                  <a:txBody>
                    <a:bodyPr/>
                    <a:lstStyle/>
                    <a:p>
                      <a:r>
                        <a:rPr lang="en-US" sz="1000"/>
                        <a:t>Moderate</a:t>
                      </a:r>
                    </a:p>
                  </a:txBody>
                  <a:tcPr/>
                </a:tc>
                <a:tc>
                  <a:txBody>
                    <a:bodyPr/>
                    <a:lstStyle/>
                    <a:p>
                      <a:r>
                        <a:rPr lang="en-US" sz="1000"/>
                        <a:t>High</a:t>
                      </a:r>
                    </a:p>
                  </a:txBody>
                  <a:tcPr/>
                </a:tc>
                <a:extLst>
                  <a:ext uri="{0D108BD9-81ED-4DB2-BD59-A6C34878D82A}">
                    <a16:rowId xmlns:a16="http://schemas.microsoft.com/office/drawing/2014/main" val="3178821922"/>
                  </a:ext>
                </a:extLst>
              </a:tr>
              <a:tr h="635000">
                <a:tc>
                  <a:txBody>
                    <a:bodyPr/>
                    <a:lstStyle/>
                    <a:p>
                      <a:r>
                        <a:rPr lang="en-US" sz="1000"/>
                        <a:t>Vendor stability</a:t>
                      </a:r>
                    </a:p>
                  </a:txBody>
                  <a:tcPr>
                    <a:solidFill>
                      <a:srgbClr val="F2F2F2"/>
                    </a:solidFill>
                  </a:tcPr>
                </a:tc>
                <a:tc>
                  <a:txBody>
                    <a:bodyPr/>
                    <a:lstStyle/>
                    <a:p>
                      <a:r>
                        <a:rPr lang="en-US" sz="1000"/>
                        <a:t>VC-backed</a:t>
                      </a:r>
                    </a:p>
                  </a:txBody>
                  <a:tcPr>
                    <a:solidFill>
                      <a:srgbClr val="F2F2F2"/>
                    </a:solidFill>
                  </a:tcPr>
                </a:tc>
                <a:tc>
                  <a:txBody>
                    <a:bodyPr/>
                    <a:lstStyle/>
                    <a:p>
                      <a:r>
                        <a:rPr lang="en-US" sz="1000"/>
                        <a:t>Codeium-backed</a:t>
                      </a:r>
                    </a:p>
                  </a:txBody>
                  <a:tcPr>
                    <a:solidFill>
                      <a:srgbClr val="F2F2F2"/>
                    </a:solidFill>
                  </a:tcPr>
                </a:tc>
                <a:tc>
                  <a:txBody>
                    <a:bodyPr/>
                    <a:lstStyle/>
                    <a:p>
                      <a:r>
                        <a:rPr lang="en-US" sz="1000"/>
                        <a:t>Open source</a:t>
                      </a:r>
                    </a:p>
                  </a:txBody>
                  <a:tcPr>
                    <a:solidFill>
                      <a:srgbClr val="F2F2F2"/>
                    </a:solidFill>
                  </a:tcPr>
                </a:tc>
                <a:tc>
                  <a:txBody>
                    <a:bodyPr/>
                    <a:lstStyle/>
                    <a:p>
                      <a:r>
                        <a:rPr lang="en-US" sz="1000"/>
                        <a:t>Microsoft</a:t>
                      </a:r>
                    </a:p>
                  </a:txBody>
                  <a:tcPr>
                    <a:solidFill>
                      <a:srgbClr val="F2F2F2"/>
                    </a:solidFill>
                  </a:tcPr>
                </a:tc>
                <a:extLst>
                  <a:ext uri="{0D108BD9-81ED-4DB2-BD59-A6C34878D82A}">
                    <a16:rowId xmlns:a16="http://schemas.microsoft.com/office/drawing/2014/main" val="3825305063"/>
                  </a:ext>
                </a:extLst>
              </a:tr>
              <a:tr h="635000">
                <a:tc>
                  <a:txBody>
                    <a:bodyPr/>
                    <a:lstStyle/>
                    <a:p>
                      <a:r>
                        <a:rPr lang="en-US" sz="1000"/>
                        <a:t>Long-term bet</a:t>
                      </a:r>
                    </a:p>
                  </a:txBody>
                  <a:tcPr/>
                </a:tc>
                <a:tc>
                  <a:txBody>
                    <a:bodyPr/>
                    <a:lstStyle/>
                    <a:p>
                      <a:r>
                        <a:rPr lang="en-US" sz="1000"/>
                        <a:t>Strong</a:t>
                      </a:r>
                    </a:p>
                  </a:txBody>
                  <a:tcPr/>
                </a:tc>
                <a:tc>
                  <a:txBody>
                    <a:bodyPr/>
                    <a:lstStyle/>
                    <a:p>
                      <a:r>
                        <a:rPr lang="en-US" sz="1000"/>
                        <a:t>Strong</a:t>
                      </a:r>
                    </a:p>
                  </a:txBody>
                  <a:tcPr/>
                </a:tc>
                <a:tc>
                  <a:txBody>
                    <a:bodyPr/>
                    <a:lstStyle/>
                    <a:p>
                      <a:r>
                        <a:rPr lang="en-US" sz="1000"/>
                        <a:t>Safe (OSS)</a:t>
                      </a:r>
                    </a:p>
                  </a:txBody>
                  <a:tcPr/>
                </a:tc>
                <a:tc>
                  <a:txBody>
                    <a:bodyPr/>
                    <a:lstStyle/>
                    <a:p>
                      <a:r>
                        <a:rPr lang="en-US" sz="1000"/>
                        <a:t>Safest</a:t>
                      </a:r>
                    </a:p>
                  </a:txBody>
                  <a:tcPr/>
                </a:tc>
                <a:extLst>
                  <a:ext uri="{0D108BD9-81ED-4DB2-BD59-A6C34878D82A}">
                    <a16:rowId xmlns:a16="http://schemas.microsoft.com/office/drawing/2014/main" val="2605563036"/>
                  </a:ext>
                </a:extLst>
              </a:tr>
            </a:tbl>
          </a:graphicData>
        </a:graphic>
      </p:graphicFrame>
      <p:sp>
        <p:nvSpPr>
          <p:cNvPr id="4" name="TextBox 3">
            <a:extLst>
              <a:ext uri="{FF2B5EF4-FFF2-40B4-BE49-F238E27FC236}">
                <a16:creationId xmlns:a16="http://schemas.microsoft.com/office/drawing/2014/main" id="{4A90CC36-B217-AB7F-DA1E-CF3D1D7DAC47}"/>
              </a:ext>
            </a:extLst>
          </p:cNvPr>
          <p:cNvSpPr txBox="1"/>
          <p:nvPr/>
        </p:nvSpPr>
        <p:spPr>
          <a:xfrm>
            <a:off x="508000" y="5715000"/>
            <a:ext cx="11176000" cy="261610"/>
          </a:xfrm>
          <a:prstGeom prst="rect">
            <a:avLst/>
          </a:prstGeom>
          <a:noFill/>
        </p:spPr>
        <p:txBody>
          <a:bodyPr vert="horz" wrap="square" lIns="127000" rIns="127000" rtlCol="0">
            <a:noAutofit/>
          </a:bodyPr>
          <a:lstStyle/>
          <a:p>
            <a:r>
              <a:rPr lang="en-US" sz="1100">
                <a:solidFill>
                  <a:srgbClr val="000080"/>
                </a:solidFill>
              </a:rPr>
              <a:t>All vendors are well-funded and stable. Microsoft (Copilot) offers most vendor security.</a:t>
            </a:r>
          </a:p>
        </p:txBody>
      </p:sp>
    </p:spTree>
    <p:extLst>
      <p:ext uri="{BB962C8B-B14F-4D97-AF65-F5344CB8AC3E}">
        <p14:creationId xmlns:p14="http://schemas.microsoft.com/office/powerpoint/2010/main" val="3977308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D9CF93-A5C4-8E54-A671-07824D754CC8}"/>
              </a:ext>
            </a:extLst>
          </p:cNvPr>
          <p:cNvSpPr txBox="1"/>
          <p:nvPr/>
        </p:nvSpPr>
        <p:spPr>
          <a:xfrm>
            <a:off x="508000" y="190500"/>
            <a:ext cx="11176000" cy="584775"/>
          </a:xfrm>
          <a:prstGeom prst="rect">
            <a:avLst/>
          </a:prstGeom>
          <a:noFill/>
        </p:spPr>
        <p:txBody>
          <a:bodyPr vert="horz" wrap="square" lIns="127000" rIns="127000" rtlCol="0">
            <a:noAutofit/>
          </a:bodyPr>
          <a:lstStyle/>
          <a:p>
            <a:r>
              <a:rPr lang="en-US" sz="3200" b="1">
                <a:solidFill>
                  <a:srgbClr val="000080"/>
                </a:solidFill>
              </a:rPr>
              <a:t>Phase-Based Tool Strategy (Save 60%)</a:t>
            </a:r>
          </a:p>
        </p:txBody>
      </p:sp>
      <p:sp>
        <p:nvSpPr>
          <p:cNvPr id="3" name="TextBox 2">
            <a:extLst>
              <a:ext uri="{FF2B5EF4-FFF2-40B4-BE49-F238E27FC236}">
                <a16:creationId xmlns:a16="http://schemas.microsoft.com/office/drawing/2014/main" id="{2F284B33-E567-10A8-C1EC-8A10E4485337}"/>
              </a:ext>
            </a:extLst>
          </p:cNvPr>
          <p:cNvSpPr txBox="1"/>
          <p:nvPr/>
        </p:nvSpPr>
        <p:spPr>
          <a:xfrm>
            <a:off x="508000" y="889000"/>
            <a:ext cx="11176000" cy="400110"/>
          </a:xfrm>
          <a:prstGeom prst="rect">
            <a:avLst/>
          </a:prstGeom>
          <a:noFill/>
        </p:spPr>
        <p:txBody>
          <a:bodyPr vert="horz" wrap="square" lIns="127000" rIns="127000" rtlCol="0">
            <a:noAutofit/>
          </a:bodyPr>
          <a:lstStyle/>
          <a:p>
            <a:r>
              <a:rPr lang="en-US" sz="2000" b="1">
                <a:solidFill>
                  <a:srgbClr val="00B050"/>
                </a:solidFill>
              </a:rPr>
              <a:t>Use Different Tools in Different Phases</a:t>
            </a:r>
          </a:p>
        </p:txBody>
      </p:sp>
      <p:graphicFrame>
        <p:nvGraphicFramePr>
          <p:cNvPr id="4" name="Table 3">
            <a:extLst>
              <a:ext uri="{FF2B5EF4-FFF2-40B4-BE49-F238E27FC236}">
                <a16:creationId xmlns:a16="http://schemas.microsoft.com/office/drawing/2014/main" id="{B7ADECF2-DD30-D807-FD43-651A8E329031}"/>
              </a:ext>
            </a:extLst>
          </p:cNvPr>
          <p:cNvGraphicFramePr>
            <a:graphicFrameLocks noGrp="1"/>
          </p:cNvGraphicFramePr>
          <p:nvPr>
            <p:extLst>
              <p:ext uri="{D42A27DB-BD31-4B8C-83A1-F6EECF244321}">
                <p14:modId xmlns:p14="http://schemas.microsoft.com/office/powerpoint/2010/main" val="3935204514"/>
              </p:ext>
            </p:extLst>
          </p:nvPr>
        </p:nvGraphicFramePr>
        <p:xfrm>
          <a:off x="508000" y="1333500"/>
          <a:ext cx="11176000" cy="4445000"/>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376619807"/>
                    </a:ext>
                  </a:extLst>
                </a:gridCol>
                <a:gridCol w="2794000">
                  <a:extLst>
                    <a:ext uri="{9D8B030D-6E8A-4147-A177-3AD203B41FA5}">
                      <a16:colId xmlns:a16="http://schemas.microsoft.com/office/drawing/2014/main" val="1218609924"/>
                    </a:ext>
                  </a:extLst>
                </a:gridCol>
                <a:gridCol w="2794000">
                  <a:extLst>
                    <a:ext uri="{9D8B030D-6E8A-4147-A177-3AD203B41FA5}">
                      <a16:colId xmlns:a16="http://schemas.microsoft.com/office/drawing/2014/main" val="2803507130"/>
                    </a:ext>
                  </a:extLst>
                </a:gridCol>
                <a:gridCol w="2794000">
                  <a:extLst>
                    <a:ext uri="{9D8B030D-6E8A-4147-A177-3AD203B41FA5}">
                      <a16:colId xmlns:a16="http://schemas.microsoft.com/office/drawing/2014/main" val="3012825636"/>
                    </a:ext>
                  </a:extLst>
                </a:gridCol>
              </a:tblGrid>
              <a:tr h="1111250">
                <a:tc>
                  <a:txBody>
                    <a:bodyPr/>
                    <a:lstStyle/>
                    <a:p>
                      <a:r>
                        <a:rPr lang="en-US" sz="1200" b="1">
                          <a:solidFill>
                            <a:srgbClr val="FFFFFF"/>
                          </a:solidFill>
                        </a:rPr>
                        <a:t>Phase</a:t>
                      </a:r>
                    </a:p>
                  </a:txBody>
                  <a:tcPr>
                    <a:solidFill>
                      <a:srgbClr val="000080"/>
                    </a:solidFill>
                  </a:tcPr>
                </a:tc>
                <a:tc>
                  <a:txBody>
                    <a:bodyPr/>
                    <a:lstStyle/>
                    <a:p>
                      <a:r>
                        <a:rPr lang="en-US" sz="1200" b="1">
                          <a:solidFill>
                            <a:srgbClr val="FFFFFF"/>
                          </a:solidFill>
                        </a:rPr>
                        <a:t>Tool</a:t>
                      </a:r>
                    </a:p>
                  </a:txBody>
                  <a:tcPr>
                    <a:solidFill>
                      <a:srgbClr val="000080"/>
                    </a:solidFill>
                  </a:tcPr>
                </a:tc>
                <a:tc>
                  <a:txBody>
                    <a:bodyPr/>
                    <a:lstStyle/>
                    <a:p>
                      <a:r>
                        <a:rPr lang="en-US" sz="1200" b="1">
                          <a:solidFill>
                            <a:srgbClr val="FFFFFF"/>
                          </a:solidFill>
                        </a:rPr>
                        <a:t>Duration</a:t>
                      </a:r>
                    </a:p>
                  </a:txBody>
                  <a:tcPr>
                    <a:solidFill>
                      <a:srgbClr val="000080"/>
                    </a:solidFill>
                  </a:tcPr>
                </a:tc>
                <a:tc>
                  <a:txBody>
                    <a:bodyPr/>
                    <a:lstStyle/>
                    <a:p>
                      <a:r>
                        <a:rPr lang="en-US" sz="1200" b="1">
                          <a:solidFill>
                            <a:srgbClr val="FFFFFF"/>
                          </a:solidFill>
                        </a:rPr>
                        <a:t>Cost</a:t>
                      </a:r>
                    </a:p>
                  </a:txBody>
                  <a:tcPr>
                    <a:solidFill>
                      <a:srgbClr val="000080"/>
                    </a:solidFill>
                  </a:tcPr>
                </a:tc>
                <a:extLst>
                  <a:ext uri="{0D108BD9-81ED-4DB2-BD59-A6C34878D82A}">
                    <a16:rowId xmlns:a16="http://schemas.microsoft.com/office/drawing/2014/main" val="1469284375"/>
                  </a:ext>
                </a:extLst>
              </a:tr>
              <a:tr h="1111250">
                <a:tc>
                  <a:txBody>
                    <a:bodyPr/>
                    <a:lstStyle/>
                    <a:p>
                      <a:r>
                        <a:rPr lang="en-US" sz="1000"/>
                        <a:t>Analysis</a:t>
                      </a:r>
                    </a:p>
                  </a:txBody>
                  <a:tcPr>
                    <a:solidFill>
                      <a:srgbClr val="F2F2F2"/>
                    </a:solidFill>
                  </a:tcPr>
                </a:tc>
                <a:tc>
                  <a:txBody>
                    <a:bodyPr/>
                    <a:lstStyle/>
                    <a:p>
                      <a:r>
                        <a:rPr lang="en-US" sz="1000"/>
                        <a:t>Cursor (1M)</a:t>
                      </a:r>
                    </a:p>
                  </a:txBody>
                  <a:tcPr>
                    <a:solidFill>
                      <a:srgbClr val="F2F2F2"/>
                    </a:solidFill>
                  </a:tcPr>
                </a:tc>
                <a:tc>
                  <a:txBody>
                    <a:bodyPr/>
                    <a:lstStyle/>
                    <a:p>
                      <a:r>
                        <a:rPr lang="en-US" sz="1000"/>
                        <a:t>1-2 mo</a:t>
                      </a:r>
                    </a:p>
                  </a:txBody>
                  <a:tcPr>
                    <a:solidFill>
                      <a:srgbClr val="F2F2F2"/>
                    </a:solidFill>
                  </a:tcPr>
                </a:tc>
                <a:tc>
                  <a:txBody>
                    <a:bodyPr/>
                    <a:lstStyle/>
                    <a:p>
                      <a:r>
                        <a:rPr lang="en-US" sz="1000"/>
                        <a:t>/mo</a:t>
                      </a:r>
                    </a:p>
                  </a:txBody>
                  <a:tcPr>
                    <a:solidFill>
                      <a:srgbClr val="F2F2F2"/>
                    </a:solidFill>
                  </a:tcPr>
                </a:tc>
                <a:extLst>
                  <a:ext uri="{0D108BD9-81ED-4DB2-BD59-A6C34878D82A}">
                    <a16:rowId xmlns:a16="http://schemas.microsoft.com/office/drawing/2014/main" val="2201876687"/>
                  </a:ext>
                </a:extLst>
              </a:tr>
              <a:tr h="1111250">
                <a:tc>
                  <a:txBody>
                    <a:bodyPr/>
                    <a:lstStyle/>
                    <a:p>
                      <a:r>
                        <a:rPr lang="en-US" sz="1000"/>
                        <a:t>Implementation</a:t>
                      </a:r>
                    </a:p>
                  </a:txBody>
                  <a:tcPr/>
                </a:tc>
                <a:tc>
                  <a:txBody>
                    <a:bodyPr/>
                    <a:lstStyle/>
                    <a:p>
                      <a:r>
                        <a:rPr lang="en-US" sz="1000"/>
                        <a:t>Copilot</a:t>
                      </a:r>
                    </a:p>
                  </a:txBody>
                  <a:tcPr/>
                </a:tc>
                <a:tc>
                  <a:txBody>
                    <a:bodyPr/>
                    <a:lstStyle/>
                    <a:p>
                      <a:r>
                        <a:rPr lang="en-US" sz="1000"/>
                        <a:t>6-10 mo</a:t>
                      </a:r>
                    </a:p>
                  </a:txBody>
                  <a:tcPr/>
                </a:tc>
                <a:tc>
                  <a:txBody>
                    <a:bodyPr/>
                    <a:lstStyle/>
                    <a:p>
                      <a:r>
                        <a:rPr lang="en-US" sz="1000"/>
                        <a:t>/mo</a:t>
                      </a:r>
                    </a:p>
                  </a:txBody>
                  <a:tcPr/>
                </a:tc>
                <a:extLst>
                  <a:ext uri="{0D108BD9-81ED-4DB2-BD59-A6C34878D82A}">
                    <a16:rowId xmlns:a16="http://schemas.microsoft.com/office/drawing/2014/main" val="2397565146"/>
                  </a:ext>
                </a:extLst>
              </a:tr>
              <a:tr h="1111250">
                <a:tc>
                  <a:txBody>
                    <a:bodyPr/>
                    <a:lstStyle/>
                    <a:p>
                      <a:r>
                        <a:rPr lang="en-US" sz="1000"/>
                        <a:t>Savings</a:t>
                      </a:r>
                    </a:p>
                  </a:txBody>
                  <a:tcPr>
                    <a:solidFill>
                      <a:srgbClr val="F2F2F2"/>
                    </a:solidFill>
                  </a:tcPr>
                </a:tc>
                <a:tc>
                  <a:txBody>
                    <a:bodyPr/>
                    <a:lstStyle/>
                    <a:p>
                      <a:r>
                        <a:rPr lang="en-US" sz="1000"/>
                        <a:t>vs Cursor entire time</a:t>
                      </a:r>
                    </a:p>
                  </a:txBody>
                  <a:tcPr>
                    <a:solidFill>
                      <a:srgbClr val="F2F2F2"/>
                    </a:solidFill>
                  </a:tcPr>
                </a:tc>
                <a:tc>
                  <a:txBody>
                    <a:bodyPr/>
                    <a:lstStyle/>
                    <a:p>
                      <a:r>
                        <a:rPr lang="en-US" sz="1000"/>
                        <a:t>12 mo</a:t>
                      </a:r>
                    </a:p>
                  </a:txBody>
                  <a:tcPr>
                    <a:solidFill>
                      <a:srgbClr val="F2F2F2"/>
                    </a:solidFill>
                  </a:tcPr>
                </a:tc>
                <a:tc>
                  <a:txBody>
                    <a:bodyPr/>
                    <a:lstStyle/>
                    <a:p>
                      <a:r>
                        <a:rPr lang="en-US" sz="1000"/>
                        <a:t>/dev</a:t>
                      </a:r>
                    </a:p>
                  </a:txBody>
                  <a:tcPr>
                    <a:solidFill>
                      <a:srgbClr val="F2F2F2"/>
                    </a:solidFill>
                  </a:tcPr>
                </a:tc>
                <a:extLst>
                  <a:ext uri="{0D108BD9-81ED-4DB2-BD59-A6C34878D82A}">
                    <a16:rowId xmlns:a16="http://schemas.microsoft.com/office/drawing/2014/main" val="3913891745"/>
                  </a:ext>
                </a:extLst>
              </a:tr>
            </a:tbl>
          </a:graphicData>
        </a:graphic>
      </p:graphicFrame>
      <p:sp>
        <p:nvSpPr>
          <p:cNvPr id="5" name="TextBox 4">
            <a:extLst>
              <a:ext uri="{FF2B5EF4-FFF2-40B4-BE49-F238E27FC236}">
                <a16:creationId xmlns:a16="http://schemas.microsoft.com/office/drawing/2014/main" id="{79347271-59DA-6B45-BD7D-F73DF9960379}"/>
              </a:ext>
            </a:extLst>
          </p:cNvPr>
          <p:cNvSpPr txBox="1"/>
          <p:nvPr/>
        </p:nvSpPr>
        <p:spPr>
          <a:xfrm>
            <a:off x="508000" y="3238500"/>
            <a:ext cx="11176000" cy="369332"/>
          </a:xfrm>
          <a:prstGeom prst="rect">
            <a:avLst/>
          </a:prstGeom>
          <a:noFill/>
        </p:spPr>
        <p:txBody>
          <a:bodyPr vert="horz" wrap="square" lIns="127000" rIns="127000" rtlCol="0">
            <a:noAutofit/>
          </a:bodyPr>
          <a:lstStyle/>
          <a:p>
            <a:r>
              <a:rPr lang="en-US" b="1">
                <a:solidFill>
                  <a:srgbClr val="000080"/>
                </a:solidFill>
              </a:rPr>
              <a:t>Why This Works:</a:t>
            </a:r>
          </a:p>
        </p:txBody>
      </p:sp>
      <p:sp>
        <p:nvSpPr>
          <p:cNvPr id="6" name="TextBox 5">
            <a:extLst>
              <a:ext uri="{FF2B5EF4-FFF2-40B4-BE49-F238E27FC236}">
                <a16:creationId xmlns:a16="http://schemas.microsoft.com/office/drawing/2014/main" id="{1A1A2D35-1E28-746D-FE4F-BFC2C1CD4D69}"/>
              </a:ext>
            </a:extLst>
          </p:cNvPr>
          <p:cNvSpPr txBox="1"/>
          <p:nvPr/>
        </p:nvSpPr>
        <p:spPr>
          <a:xfrm>
            <a:off x="635000" y="3619500"/>
            <a:ext cx="10414000" cy="1323439"/>
          </a:xfrm>
          <a:prstGeom prst="rect">
            <a:avLst/>
          </a:prstGeom>
          <a:noFill/>
        </p:spPr>
        <p:txBody>
          <a:bodyPr vert="horz" wrap="square" lIns="127000" rIns="127000" rtlCol="0">
            <a:noAutofit/>
          </a:bodyPr>
          <a:lstStyle/>
          <a:p>
            <a:pPr indent="-285750">
              <a:buChar char="•"/>
            </a:pPr>
            <a:r>
              <a:rPr lang="en-US" sz="1600"/>
              <a:t>Architects use Cursor (1M context):
Analyze entire codebase, create roadmap, identify dependencies
Developers use Copilot:
Implement changes, fast code generation, incremental features</a:t>
            </a:r>
          </a:p>
        </p:txBody>
      </p:sp>
      <p:sp>
        <p:nvSpPr>
          <p:cNvPr id="7" name="TextBox 6">
            <a:extLst>
              <a:ext uri="{FF2B5EF4-FFF2-40B4-BE49-F238E27FC236}">
                <a16:creationId xmlns:a16="http://schemas.microsoft.com/office/drawing/2014/main" id="{17D6B73B-B477-655D-9327-961C1EB55922}"/>
              </a:ext>
            </a:extLst>
          </p:cNvPr>
          <p:cNvSpPr txBox="1"/>
          <p:nvPr/>
        </p:nvSpPr>
        <p:spPr>
          <a:xfrm>
            <a:off x="508000" y="5334000"/>
            <a:ext cx="11176000" cy="1077218"/>
          </a:xfrm>
          <a:prstGeom prst="rect">
            <a:avLst/>
          </a:prstGeom>
          <a:noFill/>
        </p:spPr>
        <p:txBody>
          <a:bodyPr vert="horz" wrap="square" lIns="127000" rIns="127000" rtlCol="0">
            <a:noAutofit/>
          </a:bodyPr>
          <a:lstStyle/>
          <a:p>
            <a:r>
              <a:rPr lang="en-US" sz="1600" b="1">
                <a:solidFill>
                  <a:srgbClr val="00B050"/>
                </a:solidFill>
              </a:rPr>
              <a:t>Result:
60% cost savings while maintaining quality
Best for teams of 10+ developers
Large modernization projects</a:t>
            </a:r>
          </a:p>
        </p:txBody>
      </p:sp>
    </p:spTree>
    <p:extLst>
      <p:ext uri="{BB962C8B-B14F-4D97-AF65-F5344CB8AC3E}">
        <p14:creationId xmlns:p14="http://schemas.microsoft.com/office/powerpoint/2010/main" val="4553007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605365-1C85-07D8-5A67-D85991A8DFD7}"/>
              </a:ext>
            </a:extLst>
          </p:cNvPr>
          <p:cNvSpPr txBox="1"/>
          <p:nvPr/>
        </p:nvSpPr>
        <p:spPr>
          <a:xfrm>
            <a:off x="508000" y="190500"/>
            <a:ext cx="11176000" cy="584775"/>
          </a:xfrm>
          <a:prstGeom prst="rect">
            <a:avLst/>
          </a:prstGeom>
          <a:noFill/>
        </p:spPr>
        <p:txBody>
          <a:bodyPr vert="horz" wrap="square" lIns="127000" rIns="127000" rtlCol="0">
            <a:noAutofit/>
          </a:bodyPr>
          <a:lstStyle/>
          <a:p>
            <a:r>
              <a:rPr lang="en-US" sz="3200" b="1">
                <a:solidFill>
                  <a:srgbClr val="000080"/>
                </a:solidFill>
              </a:rPr>
              <a:t>Simultaneous Tools for Unique Features</a:t>
            </a:r>
          </a:p>
        </p:txBody>
      </p:sp>
      <p:sp>
        <p:nvSpPr>
          <p:cNvPr id="3" name="TextBox 2">
            <a:extLst>
              <a:ext uri="{FF2B5EF4-FFF2-40B4-BE49-F238E27FC236}">
                <a16:creationId xmlns:a16="http://schemas.microsoft.com/office/drawing/2014/main" id="{1EC67B6A-79C4-9F33-C47F-AA3BBD89CE5F}"/>
              </a:ext>
            </a:extLst>
          </p:cNvPr>
          <p:cNvSpPr txBox="1"/>
          <p:nvPr/>
        </p:nvSpPr>
        <p:spPr>
          <a:xfrm>
            <a:off x="508000" y="889000"/>
            <a:ext cx="11176000" cy="400110"/>
          </a:xfrm>
          <a:prstGeom prst="rect">
            <a:avLst/>
          </a:prstGeom>
          <a:noFill/>
        </p:spPr>
        <p:txBody>
          <a:bodyPr vert="horz" wrap="square" lIns="127000" rIns="127000" rtlCol="0">
            <a:noAutofit/>
          </a:bodyPr>
          <a:lstStyle/>
          <a:p>
            <a:r>
              <a:rPr lang="en-US" sz="2000" b="1">
                <a:solidFill>
                  <a:srgbClr val="000080"/>
                </a:solidFill>
              </a:rPr>
              <a:t>When to Use Multiple Tools at Once</a:t>
            </a:r>
          </a:p>
        </p:txBody>
      </p:sp>
      <p:graphicFrame>
        <p:nvGraphicFramePr>
          <p:cNvPr id="4" name="Table 3">
            <a:extLst>
              <a:ext uri="{FF2B5EF4-FFF2-40B4-BE49-F238E27FC236}">
                <a16:creationId xmlns:a16="http://schemas.microsoft.com/office/drawing/2014/main" id="{1E28C367-06A5-955B-4CD2-6EE351B1E239}"/>
              </a:ext>
            </a:extLst>
          </p:cNvPr>
          <p:cNvGraphicFramePr>
            <a:graphicFrameLocks noGrp="1"/>
          </p:cNvGraphicFramePr>
          <p:nvPr>
            <p:extLst>
              <p:ext uri="{D42A27DB-BD31-4B8C-83A1-F6EECF244321}">
                <p14:modId xmlns:p14="http://schemas.microsoft.com/office/powerpoint/2010/main" val="436009937"/>
              </p:ext>
            </p:extLst>
          </p:nvPr>
        </p:nvGraphicFramePr>
        <p:xfrm>
          <a:off x="508000" y="1333500"/>
          <a:ext cx="11176000" cy="4445000"/>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715980210"/>
                    </a:ext>
                  </a:extLst>
                </a:gridCol>
                <a:gridCol w="2794000">
                  <a:extLst>
                    <a:ext uri="{9D8B030D-6E8A-4147-A177-3AD203B41FA5}">
                      <a16:colId xmlns:a16="http://schemas.microsoft.com/office/drawing/2014/main" val="1528109687"/>
                    </a:ext>
                  </a:extLst>
                </a:gridCol>
                <a:gridCol w="2794000">
                  <a:extLst>
                    <a:ext uri="{9D8B030D-6E8A-4147-A177-3AD203B41FA5}">
                      <a16:colId xmlns:a16="http://schemas.microsoft.com/office/drawing/2014/main" val="220566808"/>
                    </a:ext>
                  </a:extLst>
                </a:gridCol>
                <a:gridCol w="2794000">
                  <a:extLst>
                    <a:ext uri="{9D8B030D-6E8A-4147-A177-3AD203B41FA5}">
                      <a16:colId xmlns:a16="http://schemas.microsoft.com/office/drawing/2014/main" val="1542938796"/>
                    </a:ext>
                  </a:extLst>
                </a:gridCol>
              </a:tblGrid>
              <a:tr h="889000">
                <a:tc>
                  <a:txBody>
                    <a:bodyPr/>
                    <a:lstStyle/>
                    <a:p>
                      <a:r>
                        <a:rPr lang="en-US" sz="1200" b="1">
                          <a:solidFill>
                            <a:srgbClr val="FFFFFF"/>
                          </a:solidFill>
                        </a:rPr>
                        <a:t>Combination</a:t>
                      </a:r>
                    </a:p>
                  </a:txBody>
                  <a:tcPr>
                    <a:solidFill>
                      <a:srgbClr val="000080"/>
                    </a:solidFill>
                  </a:tcPr>
                </a:tc>
                <a:tc>
                  <a:txBody>
                    <a:bodyPr/>
                    <a:lstStyle/>
                    <a:p>
                      <a:r>
                        <a:rPr lang="en-US" sz="1200" b="1">
                          <a:solidFill>
                            <a:srgbClr val="FFFFFF"/>
                          </a:solidFill>
                        </a:rPr>
                        <a:t>Benefit</a:t>
                      </a:r>
                    </a:p>
                  </a:txBody>
                  <a:tcPr>
                    <a:solidFill>
                      <a:srgbClr val="000080"/>
                    </a:solidFill>
                  </a:tcPr>
                </a:tc>
                <a:tc>
                  <a:txBody>
                    <a:bodyPr/>
                    <a:lstStyle/>
                    <a:p>
                      <a:r>
                        <a:rPr lang="en-US" sz="1200" b="1">
                          <a:solidFill>
                            <a:srgbClr val="FFFFFF"/>
                          </a:solidFill>
                        </a:rPr>
                        <a:t>Best For</a:t>
                      </a:r>
                    </a:p>
                  </a:txBody>
                  <a:tcPr>
                    <a:solidFill>
                      <a:srgbClr val="000080"/>
                    </a:solidFill>
                  </a:tcPr>
                </a:tc>
                <a:tc>
                  <a:txBody>
                    <a:bodyPr/>
                    <a:lstStyle/>
                    <a:p>
                      <a:r>
                        <a:rPr lang="en-US" sz="1200" b="1">
                          <a:solidFill>
                            <a:srgbClr val="FFFFFF"/>
                          </a:solidFill>
                        </a:rPr>
                        <a:t>Cost</a:t>
                      </a:r>
                    </a:p>
                  </a:txBody>
                  <a:tcPr>
                    <a:solidFill>
                      <a:srgbClr val="000080"/>
                    </a:solidFill>
                  </a:tcPr>
                </a:tc>
                <a:extLst>
                  <a:ext uri="{0D108BD9-81ED-4DB2-BD59-A6C34878D82A}">
                    <a16:rowId xmlns:a16="http://schemas.microsoft.com/office/drawing/2014/main" val="1071742428"/>
                  </a:ext>
                </a:extLst>
              </a:tr>
              <a:tr h="889000">
                <a:tc>
                  <a:txBody>
                    <a:bodyPr/>
                    <a:lstStyle/>
                    <a:p>
                      <a:r>
                        <a:rPr lang="en-US" sz="1000"/>
                        <a:t>Cursor + Copilot</a:t>
                      </a:r>
                    </a:p>
                  </a:txBody>
                  <a:tcPr>
                    <a:solidFill>
                      <a:srgbClr val="F2F2F2"/>
                    </a:solidFill>
                  </a:tcPr>
                </a:tc>
                <a:tc>
                  <a:txBody>
                    <a:bodyPr/>
                    <a:lstStyle/>
                    <a:p>
                      <a:r>
                        <a:rPr lang="en-US" sz="1000"/>
                        <a:t>1M + Azure</a:t>
                      </a:r>
                    </a:p>
                  </a:txBody>
                  <a:tcPr>
                    <a:solidFill>
                      <a:srgbClr val="F2F2F2"/>
                    </a:solidFill>
                  </a:tcPr>
                </a:tc>
                <a:tc>
                  <a:txBody>
                    <a:bodyPr/>
                    <a:lstStyle/>
                    <a:p>
                      <a:r>
                        <a:rPr lang="en-US" sz="1000"/>
                        <a:t>Azure apps</a:t>
                      </a:r>
                    </a:p>
                  </a:txBody>
                  <a:tcPr>
                    <a:solidFill>
                      <a:srgbClr val="F2F2F2"/>
                    </a:solidFill>
                  </a:tcPr>
                </a:tc>
                <a:tc>
                  <a:txBody>
                    <a:bodyPr/>
                    <a:lstStyle/>
                    <a:p>
                      <a:r>
                        <a:rPr lang="en-US" sz="1000"/>
                        <a:t>/mo</a:t>
                      </a:r>
                    </a:p>
                  </a:txBody>
                  <a:tcPr>
                    <a:solidFill>
                      <a:srgbClr val="F2F2F2"/>
                    </a:solidFill>
                  </a:tcPr>
                </a:tc>
                <a:extLst>
                  <a:ext uri="{0D108BD9-81ED-4DB2-BD59-A6C34878D82A}">
                    <a16:rowId xmlns:a16="http://schemas.microsoft.com/office/drawing/2014/main" val="999835019"/>
                  </a:ext>
                </a:extLst>
              </a:tr>
              <a:tr h="889000">
                <a:tc>
                  <a:txBody>
                    <a:bodyPr/>
                    <a:lstStyle/>
                    <a:p>
                      <a:r>
                        <a:rPr lang="en-US" sz="1000"/>
                        <a:t>Windsurf + Copilot</a:t>
                      </a:r>
                    </a:p>
                  </a:txBody>
                  <a:tcPr/>
                </a:tc>
                <a:tc>
                  <a:txBody>
                    <a:bodyPr/>
                    <a:lstStyle/>
                    <a:p>
                      <a:r>
                        <a:rPr lang="en-US" sz="1000"/>
                        <a:t>Planning + Speed</a:t>
                      </a:r>
                    </a:p>
                  </a:txBody>
                  <a:tcPr/>
                </a:tc>
                <a:tc>
                  <a:txBody>
                    <a:bodyPr/>
                    <a:lstStyle/>
                    <a:p>
                      <a:r>
                        <a:rPr lang="en-US" sz="1000"/>
                        <a:t>Structured</a:t>
                      </a:r>
                    </a:p>
                  </a:txBody>
                  <a:tcPr/>
                </a:tc>
                <a:tc>
                  <a:txBody>
                    <a:bodyPr/>
                    <a:lstStyle/>
                    <a:p>
                      <a:r>
                        <a:rPr lang="en-US" sz="1000"/>
                        <a:t>/mo</a:t>
                      </a:r>
                    </a:p>
                  </a:txBody>
                  <a:tcPr/>
                </a:tc>
                <a:extLst>
                  <a:ext uri="{0D108BD9-81ED-4DB2-BD59-A6C34878D82A}">
                    <a16:rowId xmlns:a16="http://schemas.microsoft.com/office/drawing/2014/main" val="340961048"/>
                  </a:ext>
                </a:extLst>
              </a:tr>
              <a:tr h="889000">
                <a:tc>
                  <a:txBody>
                    <a:bodyPr/>
                    <a:lstStyle/>
                    <a:p>
                      <a:r>
                        <a:rPr lang="en-US" sz="1000"/>
                        <a:t>Cursor + Claude</a:t>
                      </a:r>
                    </a:p>
                  </a:txBody>
                  <a:tcPr>
                    <a:solidFill>
                      <a:srgbClr val="F2F2F2"/>
                    </a:solidFill>
                  </a:tcPr>
                </a:tc>
                <a:tc>
                  <a:txBody>
                    <a:bodyPr/>
                    <a:lstStyle/>
                    <a:p>
                      <a:r>
                        <a:rPr lang="en-US" sz="1000"/>
                        <a:t>1M + Docs</a:t>
                      </a:r>
                    </a:p>
                  </a:txBody>
                  <a:tcPr>
                    <a:solidFill>
                      <a:srgbClr val="F2F2F2"/>
                    </a:solidFill>
                  </a:tcPr>
                </a:tc>
                <a:tc>
                  <a:txBody>
                    <a:bodyPr/>
                    <a:lstStyle/>
                    <a:p>
                      <a:r>
                        <a:rPr lang="en-US" sz="1000"/>
                        <a:t>Refactoring</a:t>
                      </a:r>
                    </a:p>
                  </a:txBody>
                  <a:tcPr>
                    <a:solidFill>
                      <a:srgbClr val="F2F2F2"/>
                    </a:solidFill>
                  </a:tcPr>
                </a:tc>
                <a:tc>
                  <a:txBody>
                    <a:bodyPr/>
                    <a:lstStyle/>
                    <a:p>
                      <a:r>
                        <a:rPr lang="en-US" sz="1000"/>
                        <a:t>/mo</a:t>
                      </a:r>
                    </a:p>
                  </a:txBody>
                  <a:tcPr>
                    <a:solidFill>
                      <a:srgbClr val="F2F2F2"/>
                    </a:solidFill>
                  </a:tcPr>
                </a:tc>
                <a:extLst>
                  <a:ext uri="{0D108BD9-81ED-4DB2-BD59-A6C34878D82A}">
                    <a16:rowId xmlns:a16="http://schemas.microsoft.com/office/drawing/2014/main" val="3299176032"/>
                  </a:ext>
                </a:extLst>
              </a:tr>
              <a:tr h="889000">
                <a:tc>
                  <a:txBody>
                    <a:bodyPr/>
                    <a:lstStyle/>
                    <a:p>
                      <a:r>
                        <a:rPr lang="en-US" sz="1000"/>
                        <a:t>Cline ONLY</a:t>
                      </a:r>
                    </a:p>
                  </a:txBody>
                  <a:tcPr/>
                </a:tc>
                <a:tc>
                  <a:txBody>
                    <a:bodyPr/>
                    <a:lstStyle/>
                    <a:p>
                      <a:r>
                        <a:rPr lang="en-US" sz="1000"/>
                        <a:t>Air-gapped</a:t>
                      </a:r>
                    </a:p>
                  </a:txBody>
                  <a:tcPr/>
                </a:tc>
                <a:tc>
                  <a:txBody>
                    <a:bodyPr/>
                    <a:lstStyle/>
                    <a:p>
                      <a:r>
                        <a:rPr lang="en-US" sz="1000"/>
                        <a:t>Regulated</a:t>
                      </a:r>
                    </a:p>
                  </a:txBody>
                  <a:tcPr/>
                </a:tc>
                <a:tc>
                  <a:txBody>
                    <a:bodyPr/>
                    <a:lstStyle/>
                    <a:p>
                      <a:r>
                        <a:rPr lang="en-US" sz="1000"/>
                        <a:t>Self-host</a:t>
                      </a:r>
                    </a:p>
                  </a:txBody>
                  <a:tcPr/>
                </a:tc>
                <a:extLst>
                  <a:ext uri="{0D108BD9-81ED-4DB2-BD59-A6C34878D82A}">
                    <a16:rowId xmlns:a16="http://schemas.microsoft.com/office/drawing/2014/main" val="4002229362"/>
                  </a:ext>
                </a:extLst>
              </a:tr>
            </a:tbl>
          </a:graphicData>
        </a:graphic>
      </p:graphicFrame>
      <p:sp>
        <p:nvSpPr>
          <p:cNvPr id="5" name="TextBox 4">
            <a:extLst>
              <a:ext uri="{FF2B5EF4-FFF2-40B4-BE49-F238E27FC236}">
                <a16:creationId xmlns:a16="http://schemas.microsoft.com/office/drawing/2014/main" id="{F48A994D-84C5-9F76-28E6-8B97B932A6AD}"/>
              </a:ext>
            </a:extLst>
          </p:cNvPr>
          <p:cNvSpPr txBox="1"/>
          <p:nvPr/>
        </p:nvSpPr>
        <p:spPr>
          <a:xfrm>
            <a:off x="508000" y="3238500"/>
            <a:ext cx="11176000" cy="369332"/>
          </a:xfrm>
          <a:prstGeom prst="rect">
            <a:avLst/>
          </a:prstGeom>
          <a:noFill/>
        </p:spPr>
        <p:txBody>
          <a:bodyPr vert="horz" wrap="square" lIns="127000" rIns="127000" rtlCol="0">
            <a:noAutofit/>
          </a:bodyPr>
          <a:lstStyle/>
          <a:p>
            <a:r>
              <a:rPr lang="en-US" b="1">
                <a:solidFill>
                  <a:srgbClr val="00CC00"/>
                </a:solidFill>
              </a:rPr>
              <a:t>Security Warning:</a:t>
            </a:r>
          </a:p>
        </p:txBody>
      </p:sp>
      <p:sp>
        <p:nvSpPr>
          <p:cNvPr id="6" name="TextBox 5">
            <a:extLst>
              <a:ext uri="{FF2B5EF4-FFF2-40B4-BE49-F238E27FC236}">
                <a16:creationId xmlns:a16="http://schemas.microsoft.com/office/drawing/2014/main" id="{92B39989-EB80-5E47-C9D7-9689DB917C48}"/>
              </a:ext>
            </a:extLst>
          </p:cNvPr>
          <p:cNvSpPr txBox="1"/>
          <p:nvPr/>
        </p:nvSpPr>
        <p:spPr>
          <a:xfrm>
            <a:off x="635000" y="3619500"/>
            <a:ext cx="10414000" cy="1569660"/>
          </a:xfrm>
          <a:prstGeom prst="rect">
            <a:avLst/>
          </a:prstGeom>
          <a:noFill/>
        </p:spPr>
        <p:txBody>
          <a:bodyPr vert="horz" wrap="square" lIns="127000" rIns="127000" rtlCol="0">
            <a:noAutofit/>
          </a:bodyPr>
          <a:lstStyle/>
          <a:p>
            <a:pPr indent="-285750">
              <a:buChar char="•"/>
            </a:pPr>
            <a:r>
              <a:rPr lang="en-US" sz="1600"/>
              <a:t>For air-gapped security: Use ONLY Cline
NEVER combine Cline with cloud tools
(Cursor, Copilot, Windsurf, Claude Code)
Cloud tools send code to internet</a:t>
            </a:r>
          </a:p>
        </p:txBody>
      </p:sp>
      <p:sp>
        <p:nvSpPr>
          <p:cNvPr id="7" name="TextBox 6">
            <a:extLst>
              <a:ext uri="{FF2B5EF4-FFF2-40B4-BE49-F238E27FC236}">
                <a16:creationId xmlns:a16="http://schemas.microsoft.com/office/drawing/2014/main" id="{8E511424-524B-C6E5-172E-83F92D155F21}"/>
              </a:ext>
            </a:extLst>
          </p:cNvPr>
          <p:cNvSpPr txBox="1"/>
          <p:nvPr/>
        </p:nvSpPr>
        <p:spPr>
          <a:xfrm>
            <a:off x="508000" y="5080000"/>
            <a:ext cx="11176000" cy="1815882"/>
          </a:xfrm>
          <a:prstGeom prst="rect">
            <a:avLst/>
          </a:prstGeom>
          <a:noFill/>
        </p:spPr>
        <p:txBody>
          <a:bodyPr vert="horz" wrap="square" lIns="127000" rIns="127000" rtlCol="0">
            <a:noAutofit/>
          </a:bodyPr>
          <a:lstStyle/>
          <a:p>
            <a:r>
              <a:rPr lang="en-US" sz="1600" b="1">
                <a:solidFill>
                  <a:srgbClr val="000080"/>
                </a:solidFill>
              </a:rPr>
              <a:t>Key Insight:
Combine for unique features, NOT just AI models
Most projects need only ONE multi-model tool
Combination adds -40/user/month cost</a:t>
            </a:r>
          </a:p>
        </p:txBody>
      </p:sp>
    </p:spTree>
    <p:extLst>
      <p:ext uri="{BB962C8B-B14F-4D97-AF65-F5344CB8AC3E}">
        <p14:creationId xmlns:p14="http://schemas.microsoft.com/office/powerpoint/2010/main" val="1876895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8AC308-9C1D-E6D4-7E3E-FAB4F6E18E64}"/>
              </a:ext>
            </a:extLst>
          </p:cNvPr>
          <p:cNvSpPr txBox="1"/>
          <p:nvPr/>
        </p:nvSpPr>
        <p:spPr>
          <a:xfrm>
            <a:off x="508000" y="190500"/>
            <a:ext cx="11176000" cy="492443"/>
          </a:xfrm>
          <a:prstGeom prst="rect">
            <a:avLst/>
          </a:prstGeom>
          <a:noFill/>
        </p:spPr>
        <p:txBody>
          <a:bodyPr vert="horz" wrap="square" lIns="127000" rIns="127000" rtlCol="0">
            <a:noAutofit/>
          </a:bodyPr>
          <a:lstStyle/>
          <a:p>
            <a:r>
              <a:rPr lang="en-US" sz="2600" b="1">
                <a:solidFill>
                  <a:srgbClr val="000080"/>
                </a:solidFill>
              </a:rPr>
              <a:t>When NOT to Invest in AI Coding Assistants</a:t>
            </a:r>
          </a:p>
        </p:txBody>
      </p:sp>
      <p:graphicFrame>
        <p:nvGraphicFramePr>
          <p:cNvPr id="3" name="Table 2">
            <a:extLst>
              <a:ext uri="{FF2B5EF4-FFF2-40B4-BE49-F238E27FC236}">
                <a16:creationId xmlns:a16="http://schemas.microsoft.com/office/drawing/2014/main" id="{39D072BE-6425-4873-A19F-14DC141ED334}"/>
              </a:ext>
            </a:extLst>
          </p:cNvPr>
          <p:cNvGraphicFramePr>
            <a:graphicFrameLocks noGrp="1"/>
          </p:cNvGraphicFramePr>
          <p:nvPr>
            <p:extLst>
              <p:ext uri="{D42A27DB-BD31-4B8C-83A1-F6EECF244321}">
                <p14:modId xmlns:p14="http://schemas.microsoft.com/office/powerpoint/2010/main" val="1642285450"/>
              </p:ext>
            </p:extLst>
          </p:nvPr>
        </p:nvGraphicFramePr>
        <p:xfrm>
          <a:off x="508000" y="1016000"/>
          <a:ext cx="11176000" cy="4445000"/>
        </p:xfrm>
        <a:graphic>
          <a:graphicData uri="http://schemas.openxmlformats.org/drawingml/2006/table">
            <a:tbl>
              <a:tblPr firstRow="1" bandRow="1">
                <a:tableStyleId>{5C22544A-7EE6-4342-B048-85BDC9FD1C3A}</a:tableStyleId>
              </a:tblPr>
              <a:tblGrid>
                <a:gridCol w="3725333">
                  <a:extLst>
                    <a:ext uri="{9D8B030D-6E8A-4147-A177-3AD203B41FA5}">
                      <a16:colId xmlns:a16="http://schemas.microsoft.com/office/drawing/2014/main" val="3079909504"/>
                    </a:ext>
                  </a:extLst>
                </a:gridCol>
                <a:gridCol w="3725333">
                  <a:extLst>
                    <a:ext uri="{9D8B030D-6E8A-4147-A177-3AD203B41FA5}">
                      <a16:colId xmlns:a16="http://schemas.microsoft.com/office/drawing/2014/main" val="93976263"/>
                    </a:ext>
                  </a:extLst>
                </a:gridCol>
                <a:gridCol w="3725333">
                  <a:extLst>
                    <a:ext uri="{9D8B030D-6E8A-4147-A177-3AD203B41FA5}">
                      <a16:colId xmlns:a16="http://schemas.microsoft.com/office/drawing/2014/main" val="274705146"/>
                    </a:ext>
                  </a:extLst>
                </a:gridCol>
              </a:tblGrid>
              <a:tr h="635000">
                <a:tc>
                  <a:txBody>
                    <a:bodyPr/>
                    <a:lstStyle/>
                    <a:p>
                      <a:r>
                        <a:rPr lang="en-US" sz="1200" b="1">
                          <a:solidFill>
                            <a:srgbClr val="FFFFFF"/>
                          </a:solidFill>
                        </a:rPr>
                        <a:t>Scenario</a:t>
                      </a:r>
                    </a:p>
                  </a:txBody>
                  <a:tcPr>
                    <a:solidFill>
                      <a:srgbClr val="000080"/>
                    </a:solidFill>
                  </a:tcPr>
                </a:tc>
                <a:tc>
                  <a:txBody>
                    <a:bodyPr/>
                    <a:lstStyle/>
                    <a:p>
                      <a:r>
                        <a:rPr lang="en-US" sz="1200" b="1">
                          <a:solidFill>
                            <a:srgbClr val="FFFFFF"/>
                          </a:solidFill>
                        </a:rPr>
                        <a:t>Risk Level</a:t>
                      </a:r>
                    </a:p>
                  </a:txBody>
                  <a:tcPr>
                    <a:solidFill>
                      <a:srgbClr val="000080"/>
                    </a:solidFill>
                  </a:tcPr>
                </a:tc>
                <a:tc>
                  <a:txBody>
                    <a:bodyPr/>
                    <a:lstStyle/>
                    <a:p>
                      <a:r>
                        <a:rPr lang="en-US" sz="1200" b="1">
                          <a:solidFill>
                            <a:srgbClr val="FFFFFF"/>
                          </a:solidFill>
                        </a:rPr>
                        <a:t>Recommendation</a:t>
                      </a:r>
                    </a:p>
                  </a:txBody>
                  <a:tcPr>
                    <a:solidFill>
                      <a:srgbClr val="000080"/>
                    </a:solidFill>
                  </a:tcPr>
                </a:tc>
                <a:extLst>
                  <a:ext uri="{0D108BD9-81ED-4DB2-BD59-A6C34878D82A}">
                    <a16:rowId xmlns:a16="http://schemas.microsoft.com/office/drawing/2014/main" val="1654381759"/>
                  </a:ext>
                </a:extLst>
              </a:tr>
              <a:tr h="635000">
                <a:tc>
                  <a:txBody>
                    <a:bodyPr/>
                    <a:lstStyle/>
                    <a:p>
                      <a:r>
                        <a:rPr lang="en-US" sz="1000"/>
                        <a:t>No legacy modernization planned</a:t>
                      </a:r>
                    </a:p>
                  </a:txBody>
                  <a:tcPr>
                    <a:solidFill>
                      <a:srgbClr val="F2F2F2"/>
                    </a:solidFill>
                  </a:tcPr>
                </a:tc>
                <a:tc>
                  <a:txBody>
                    <a:bodyPr/>
                    <a:lstStyle/>
                    <a:p>
                      <a:r>
                        <a:rPr lang="en-US" sz="1000"/>
                        <a:t>N/A</a:t>
                      </a:r>
                    </a:p>
                  </a:txBody>
                  <a:tcPr>
                    <a:solidFill>
                      <a:srgbClr val="F2F2F2"/>
                    </a:solidFill>
                  </a:tcPr>
                </a:tc>
                <a:tc>
                  <a:txBody>
                    <a:bodyPr/>
                    <a:lstStyle/>
                    <a:p>
                      <a:r>
                        <a:rPr lang="en-US" sz="1000"/>
                        <a:t>Wait until modernization starts</a:t>
                      </a:r>
                    </a:p>
                  </a:txBody>
                  <a:tcPr>
                    <a:solidFill>
                      <a:srgbClr val="F2F2F2"/>
                    </a:solidFill>
                  </a:tcPr>
                </a:tc>
                <a:extLst>
                  <a:ext uri="{0D108BD9-81ED-4DB2-BD59-A6C34878D82A}">
                    <a16:rowId xmlns:a16="http://schemas.microsoft.com/office/drawing/2014/main" val="3364787373"/>
                  </a:ext>
                </a:extLst>
              </a:tr>
              <a:tr h="635000">
                <a:tc>
                  <a:txBody>
                    <a:bodyPr/>
                    <a:lstStyle/>
                    <a:p>
                      <a:r>
                        <a:rPr lang="en-US" sz="1000"/>
                        <a:t>&lt; 5 developers</a:t>
                      </a:r>
                    </a:p>
                  </a:txBody>
                  <a:tcPr/>
                </a:tc>
                <a:tc>
                  <a:txBody>
                    <a:bodyPr/>
                    <a:lstStyle/>
                    <a:p>
                      <a:r>
                        <a:rPr lang="en-US" sz="1000"/>
                        <a:t>Low ROI</a:t>
                      </a:r>
                    </a:p>
                  </a:txBody>
                  <a:tcPr/>
                </a:tc>
                <a:tc>
                  <a:txBody>
                    <a:bodyPr/>
                    <a:lstStyle/>
                    <a:p>
                      <a:r>
                        <a:rPr lang="en-US" sz="1000"/>
                        <a:t>Consider free tier of Copilot first</a:t>
                      </a:r>
                    </a:p>
                  </a:txBody>
                  <a:tcPr/>
                </a:tc>
                <a:extLst>
                  <a:ext uri="{0D108BD9-81ED-4DB2-BD59-A6C34878D82A}">
                    <a16:rowId xmlns:a16="http://schemas.microsoft.com/office/drawing/2014/main" val="1722245373"/>
                  </a:ext>
                </a:extLst>
              </a:tr>
              <a:tr h="635000">
                <a:tc>
                  <a:txBody>
                    <a:bodyPr/>
                    <a:lstStyle/>
                    <a:p>
                      <a:r>
                        <a:rPr lang="en-US" sz="1000"/>
                        <a:t>Zero documentation, zero tests</a:t>
                      </a:r>
                    </a:p>
                  </a:txBody>
                  <a:tcPr>
                    <a:solidFill>
                      <a:srgbClr val="F2F2F2"/>
                    </a:solidFill>
                  </a:tcPr>
                </a:tc>
                <a:tc>
                  <a:txBody>
                    <a:bodyPr/>
                    <a:lstStyle/>
                    <a:p>
                      <a:r>
                        <a:rPr lang="en-US" sz="1000"/>
                        <a:t>High</a:t>
                      </a:r>
                    </a:p>
                  </a:txBody>
                  <a:tcPr>
                    <a:solidFill>
                      <a:srgbClr val="F2F2F2"/>
                    </a:solidFill>
                  </a:tcPr>
                </a:tc>
                <a:tc>
                  <a:txBody>
                    <a:bodyPr/>
                    <a:lstStyle/>
                    <a:p>
                      <a:r>
                        <a:rPr lang="en-US" sz="1000"/>
                        <a:t>Document/test first, then use AI</a:t>
                      </a:r>
                    </a:p>
                  </a:txBody>
                  <a:tcPr>
                    <a:solidFill>
                      <a:srgbClr val="F2F2F2"/>
                    </a:solidFill>
                  </a:tcPr>
                </a:tc>
                <a:extLst>
                  <a:ext uri="{0D108BD9-81ED-4DB2-BD59-A6C34878D82A}">
                    <a16:rowId xmlns:a16="http://schemas.microsoft.com/office/drawing/2014/main" val="3872990094"/>
                  </a:ext>
                </a:extLst>
              </a:tr>
              <a:tr h="635000">
                <a:tc>
                  <a:txBody>
                    <a:bodyPr/>
                    <a:lstStyle/>
                    <a:p>
                      <a:r>
                        <a:rPr lang="en-US" sz="1000"/>
                        <a:t>Mission-critical, zero downtime</a:t>
                      </a:r>
                    </a:p>
                  </a:txBody>
                  <a:tcPr/>
                </a:tc>
                <a:tc>
                  <a:txBody>
                    <a:bodyPr/>
                    <a:lstStyle/>
                    <a:p>
                      <a:r>
                        <a:rPr lang="en-US" sz="1000"/>
                        <a:t>High</a:t>
                      </a:r>
                    </a:p>
                  </a:txBody>
                  <a:tcPr/>
                </a:tc>
                <a:tc>
                  <a:txBody>
                    <a:bodyPr/>
                    <a:lstStyle/>
                    <a:p>
                      <a:r>
                        <a:rPr lang="en-US" sz="1000"/>
                        <a:t>Use AI for planning only</a:t>
                      </a:r>
                    </a:p>
                  </a:txBody>
                  <a:tcPr/>
                </a:tc>
                <a:extLst>
                  <a:ext uri="{0D108BD9-81ED-4DB2-BD59-A6C34878D82A}">
                    <a16:rowId xmlns:a16="http://schemas.microsoft.com/office/drawing/2014/main" val="1558945604"/>
                  </a:ext>
                </a:extLst>
              </a:tr>
              <a:tr h="635000">
                <a:tc>
                  <a:txBody>
                    <a:bodyPr/>
                    <a:lstStyle/>
                    <a:p>
                      <a:r>
                        <a:rPr lang="en-US" sz="1000"/>
                        <a:t>Proprietary language (not in training)</a:t>
                      </a:r>
                    </a:p>
                  </a:txBody>
                  <a:tcPr>
                    <a:solidFill>
                      <a:srgbClr val="F2F2F2"/>
                    </a:solidFill>
                  </a:tcPr>
                </a:tc>
                <a:tc>
                  <a:txBody>
                    <a:bodyPr/>
                    <a:lstStyle/>
                    <a:p>
                      <a:r>
                        <a:rPr lang="en-US" sz="1000"/>
                        <a:t>High</a:t>
                      </a:r>
                    </a:p>
                  </a:txBody>
                  <a:tcPr>
                    <a:solidFill>
                      <a:srgbClr val="F2F2F2"/>
                    </a:solidFill>
                  </a:tcPr>
                </a:tc>
                <a:tc>
                  <a:txBody>
                    <a:bodyPr/>
                    <a:lstStyle/>
                    <a:p>
                      <a:r>
                        <a:rPr lang="en-US" sz="1000"/>
                        <a:t>AI will struggle, limited value</a:t>
                      </a:r>
                    </a:p>
                  </a:txBody>
                  <a:tcPr>
                    <a:solidFill>
                      <a:srgbClr val="F2F2F2"/>
                    </a:solidFill>
                  </a:tcPr>
                </a:tc>
                <a:extLst>
                  <a:ext uri="{0D108BD9-81ED-4DB2-BD59-A6C34878D82A}">
                    <a16:rowId xmlns:a16="http://schemas.microsoft.com/office/drawing/2014/main" val="2505186571"/>
                  </a:ext>
                </a:extLst>
              </a:tr>
              <a:tr h="635000">
                <a:tc>
                  <a:txBody>
                    <a:bodyPr/>
                    <a:lstStyle/>
                    <a:p>
                      <a:r>
                        <a:rPr lang="en-US" sz="1000"/>
                        <a:t>Team resistant to AI tools</a:t>
                      </a:r>
                    </a:p>
                  </a:txBody>
                  <a:tcPr/>
                </a:tc>
                <a:tc>
                  <a:txBody>
                    <a:bodyPr/>
                    <a:lstStyle/>
                    <a:p>
                      <a:r>
                        <a:rPr lang="en-US" sz="1000"/>
                        <a:t>Medium</a:t>
                      </a:r>
                    </a:p>
                  </a:txBody>
                  <a:tcPr/>
                </a:tc>
                <a:tc>
                  <a:txBody>
                    <a:bodyPr/>
                    <a:lstStyle/>
                    <a:p>
                      <a:r>
                        <a:rPr lang="en-US" sz="1000"/>
                        <a:t>Address concerns, run pilot first</a:t>
                      </a:r>
                    </a:p>
                  </a:txBody>
                  <a:tcPr/>
                </a:tc>
                <a:extLst>
                  <a:ext uri="{0D108BD9-81ED-4DB2-BD59-A6C34878D82A}">
                    <a16:rowId xmlns:a16="http://schemas.microsoft.com/office/drawing/2014/main" val="1614875260"/>
                  </a:ext>
                </a:extLst>
              </a:tr>
            </a:tbl>
          </a:graphicData>
        </a:graphic>
      </p:graphicFrame>
      <p:sp>
        <p:nvSpPr>
          <p:cNvPr id="4" name="TextBox 3">
            <a:extLst>
              <a:ext uri="{FF2B5EF4-FFF2-40B4-BE49-F238E27FC236}">
                <a16:creationId xmlns:a16="http://schemas.microsoft.com/office/drawing/2014/main" id="{FA750B85-B02B-45C9-3C02-9B6C2508E7AD}"/>
              </a:ext>
            </a:extLst>
          </p:cNvPr>
          <p:cNvSpPr txBox="1"/>
          <p:nvPr/>
        </p:nvSpPr>
        <p:spPr>
          <a:xfrm>
            <a:off x="508000" y="5715000"/>
            <a:ext cx="11176000" cy="276999"/>
          </a:xfrm>
          <a:prstGeom prst="rect">
            <a:avLst/>
          </a:prstGeom>
          <a:noFill/>
        </p:spPr>
        <p:txBody>
          <a:bodyPr vert="horz" wrap="square" lIns="127000" rIns="127000" rtlCol="0">
            <a:noAutofit/>
          </a:bodyPr>
          <a:lstStyle/>
          <a:p>
            <a:r>
              <a:rPr lang="en-US" sz="1200" b="1">
                <a:solidFill>
                  <a:srgbClr val="00B050"/>
                </a:solidFill>
              </a:rPr>
              <a:t>For most organizations with legacy apps: This IS a good investment</a:t>
            </a:r>
          </a:p>
        </p:txBody>
      </p:sp>
    </p:spTree>
    <p:extLst>
      <p:ext uri="{BB962C8B-B14F-4D97-AF65-F5344CB8AC3E}">
        <p14:creationId xmlns:p14="http://schemas.microsoft.com/office/powerpoint/2010/main" val="28236950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42F0C2C-CD4E-22E6-74BE-7FDE00F2CC89}"/>
              </a:ext>
            </a:extLst>
          </p:cNvPr>
          <p:cNvSpPr txBox="1"/>
          <p:nvPr/>
        </p:nvSpPr>
        <p:spPr>
          <a:xfrm>
            <a:off x="508000" y="190500"/>
            <a:ext cx="11176000" cy="584775"/>
          </a:xfrm>
          <a:prstGeom prst="rect">
            <a:avLst/>
          </a:prstGeom>
          <a:noFill/>
        </p:spPr>
        <p:txBody>
          <a:bodyPr vert="horz" wrap="square" lIns="127000" rIns="127000" rtlCol="0">
            <a:noAutofit/>
          </a:bodyPr>
          <a:lstStyle/>
          <a:p>
            <a:r>
              <a:rPr lang="en-US" sz="3200" b="1">
                <a:solidFill>
                  <a:srgbClr val="000080"/>
                </a:solidFill>
              </a:rPr>
              <a:t>Recommendations &amp; Next Steps</a:t>
            </a:r>
          </a:p>
        </p:txBody>
      </p:sp>
      <p:sp>
        <p:nvSpPr>
          <p:cNvPr id="3" name="TextBox 2">
            <a:extLst>
              <a:ext uri="{FF2B5EF4-FFF2-40B4-BE49-F238E27FC236}">
                <a16:creationId xmlns:a16="http://schemas.microsoft.com/office/drawing/2014/main" id="{35840F1F-FBD2-E221-B4A5-4D618971B78B}"/>
              </a:ext>
            </a:extLst>
          </p:cNvPr>
          <p:cNvSpPr txBox="1"/>
          <p:nvPr/>
        </p:nvSpPr>
        <p:spPr>
          <a:xfrm>
            <a:off x="508000" y="1016000"/>
            <a:ext cx="11176000" cy="400110"/>
          </a:xfrm>
          <a:prstGeom prst="rect">
            <a:avLst/>
          </a:prstGeom>
          <a:noFill/>
        </p:spPr>
        <p:txBody>
          <a:bodyPr vert="horz" wrap="square" lIns="127000" rIns="127000" rtlCol="0">
            <a:noAutofit/>
          </a:bodyPr>
          <a:lstStyle/>
          <a:p>
            <a:r>
              <a:rPr lang="en-US" sz="2000" b="1">
                <a:solidFill>
                  <a:srgbClr val="00B050"/>
                </a:solidFill>
              </a:rPr>
              <a:t>Primary Recommendation:</a:t>
            </a:r>
          </a:p>
        </p:txBody>
      </p:sp>
      <p:sp>
        <p:nvSpPr>
          <p:cNvPr id="4" name="TextBox 3">
            <a:extLst>
              <a:ext uri="{FF2B5EF4-FFF2-40B4-BE49-F238E27FC236}">
                <a16:creationId xmlns:a16="http://schemas.microsoft.com/office/drawing/2014/main" id="{62A9E0B0-0D2F-2EA5-6F22-C7EB9053883B}"/>
              </a:ext>
            </a:extLst>
          </p:cNvPr>
          <p:cNvSpPr txBox="1"/>
          <p:nvPr/>
        </p:nvSpPr>
        <p:spPr>
          <a:xfrm>
            <a:off x="762000" y="1460500"/>
            <a:ext cx="10668000" cy="584775"/>
          </a:xfrm>
          <a:prstGeom prst="rect">
            <a:avLst/>
          </a:prstGeom>
          <a:noFill/>
        </p:spPr>
        <p:txBody>
          <a:bodyPr vert="horz" wrap="square" lIns="127000" rIns="127000" rtlCol="0">
            <a:noAutofit/>
          </a:bodyPr>
          <a:lstStyle/>
          <a:p>
            <a:r>
              <a:rPr lang="en-US" sz="1600">
                <a:solidFill>
                  <a:srgbClr val="000000"/>
                </a:solidFill>
              </a:rPr>
              <a:t>Approve pilot program with Cursor or Windsurf IDE for large legacy modernization projects. These tools offer 1M context capacity essential for comprehensive understanding of large codebases.</a:t>
            </a:r>
          </a:p>
        </p:txBody>
      </p:sp>
      <p:sp>
        <p:nvSpPr>
          <p:cNvPr id="5" name="TextBox 4">
            <a:extLst>
              <a:ext uri="{FF2B5EF4-FFF2-40B4-BE49-F238E27FC236}">
                <a16:creationId xmlns:a16="http://schemas.microsoft.com/office/drawing/2014/main" id="{47B7F1BF-D004-8AFB-4A8B-06236A3B2188}"/>
              </a:ext>
            </a:extLst>
          </p:cNvPr>
          <p:cNvSpPr txBox="1"/>
          <p:nvPr/>
        </p:nvSpPr>
        <p:spPr>
          <a:xfrm>
            <a:off x="508000" y="2921000"/>
            <a:ext cx="11176000" cy="400110"/>
          </a:xfrm>
          <a:prstGeom prst="rect">
            <a:avLst/>
          </a:prstGeom>
          <a:noFill/>
        </p:spPr>
        <p:txBody>
          <a:bodyPr vert="horz" wrap="square" lIns="127000" rIns="127000" rtlCol="0">
            <a:noAutofit/>
          </a:bodyPr>
          <a:lstStyle/>
          <a:p>
            <a:r>
              <a:rPr lang="en-US" sz="2000" b="1">
                <a:solidFill>
                  <a:srgbClr val="000080"/>
                </a:solidFill>
              </a:rPr>
              <a:t>Alternative for Azure/Microsoft shops:</a:t>
            </a:r>
          </a:p>
        </p:txBody>
      </p:sp>
      <p:sp>
        <p:nvSpPr>
          <p:cNvPr id="6" name="TextBox 5">
            <a:extLst>
              <a:ext uri="{FF2B5EF4-FFF2-40B4-BE49-F238E27FC236}">
                <a16:creationId xmlns:a16="http://schemas.microsoft.com/office/drawing/2014/main" id="{21E8274C-FEB8-064E-1DF3-973BB80F899E}"/>
              </a:ext>
            </a:extLst>
          </p:cNvPr>
          <p:cNvSpPr txBox="1"/>
          <p:nvPr/>
        </p:nvSpPr>
        <p:spPr>
          <a:xfrm>
            <a:off x="762000" y="3365500"/>
            <a:ext cx="10668000" cy="338554"/>
          </a:xfrm>
          <a:prstGeom prst="rect">
            <a:avLst/>
          </a:prstGeom>
          <a:noFill/>
        </p:spPr>
        <p:txBody>
          <a:bodyPr vert="horz" wrap="square" lIns="127000" rIns="127000" rtlCol="0">
            <a:noAutofit/>
          </a:bodyPr>
          <a:lstStyle/>
          <a:p>
            <a:r>
              <a:rPr lang="en-US" sz="1600">
                <a:solidFill>
                  <a:srgbClr val="000000"/>
                </a:solidFill>
              </a:rPr>
              <a:t>GitHub Copilot for incremental modernization and strong Azure integration.</a:t>
            </a:r>
          </a:p>
        </p:txBody>
      </p:sp>
      <p:sp>
        <p:nvSpPr>
          <p:cNvPr id="7" name="TextBox 6">
            <a:extLst>
              <a:ext uri="{FF2B5EF4-FFF2-40B4-BE49-F238E27FC236}">
                <a16:creationId xmlns:a16="http://schemas.microsoft.com/office/drawing/2014/main" id="{D92060A3-C638-8AE7-F0ED-6DEC62193EEA}"/>
              </a:ext>
            </a:extLst>
          </p:cNvPr>
          <p:cNvSpPr txBox="1"/>
          <p:nvPr/>
        </p:nvSpPr>
        <p:spPr>
          <a:xfrm>
            <a:off x="508000" y="4318000"/>
            <a:ext cx="11176000" cy="400110"/>
          </a:xfrm>
          <a:prstGeom prst="rect">
            <a:avLst/>
          </a:prstGeom>
          <a:noFill/>
        </p:spPr>
        <p:txBody>
          <a:bodyPr vert="horz" wrap="square" lIns="127000" rIns="127000" rtlCol="0">
            <a:noAutofit/>
          </a:bodyPr>
          <a:lstStyle/>
          <a:p>
            <a:r>
              <a:rPr lang="en-US" sz="2000" b="1">
                <a:solidFill>
                  <a:srgbClr val="000080"/>
                </a:solidFill>
              </a:rPr>
              <a:t>Immediate Next Steps:</a:t>
            </a:r>
          </a:p>
        </p:txBody>
      </p:sp>
      <p:sp>
        <p:nvSpPr>
          <p:cNvPr id="8" name="TextBox 7">
            <a:extLst>
              <a:ext uri="{FF2B5EF4-FFF2-40B4-BE49-F238E27FC236}">
                <a16:creationId xmlns:a16="http://schemas.microsoft.com/office/drawing/2014/main" id="{1362C883-3E6F-9628-E0A0-09AF05A8F819}"/>
              </a:ext>
            </a:extLst>
          </p:cNvPr>
          <p:cNvSpPr txBox="1"/>
          <p:nvPr/>
        </p:nvSpPr>
        <p:spPr>
          <a:xfrm>
            <a:off x="762000" y="4762500"/>
            <a:ext cx="10668000" cy="1323439"/>
          </a:xfrm>
          <a:prstGeom prst="rect">
            <a:avLst/>
          </a:prstGeom>
          <a:noFill/>
        </p:spPr>
        <p:txBody>
          <a:bodyPr vert="horz" wrap="square" lIns="127000" rIns="127000" rtlCol="0">
            <a:noAutofit/>
          </a:bodyPr>
          <a:lstStyle/>
          <a:p>
            <a:r>
              <a:rPr lang="en-US" sz="1600">
                <a:solidFill>
                  <a:srgbClr val="000000"/>
                </a:solidFill>
              </a:rPr>
              <a:t>1. Approve  pilot budget (Month 1-2)
2. Select 3-5 developers and 1 legacy project
3. Deploy Cursor/Windsurf and measure results
4. Review pilot results and expand if successful
5. Target: 40% reduction in modernization timeline</a:t>
            </a:r>
          </a:p>
        </p:txBody>
      </p:sp>
    </p:spTree>
    <p:extLst>
      <p:ext uri="{BB962C8B-B14F-4D97-AF65-F5344CB8AC3E}">
        <p14:creationId xmlns:p14="http://schemas.microsoft.com/office/powerpoint/2010/main" val="21449343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1650</Words>
  <Application>Microsoft Office PowerPoint</Application>
  <PresentationFormat>Custom</PresentationFormat>
  <Paragraphs>272</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Booz Allen Hamilton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Vanniamparampil, Sangeetha [USA]</dc:creator>
  <cp:lastModifiedBy>Vanniamparampil, Sangeetha [USA]</cp:lastModifiedBy>
  <cp:revision>1</cp:revision>
  <dcterms:created xsi:type="dcterms:W3CDTF">2025-11-25T18:50:09Z</dcterms:created>
  <dcterms:modified xsi:type="dcterms:W3CDTF">2025-11-25T18:50:09Z</dcterms:modified>
</cp:coreProperties>
</file>